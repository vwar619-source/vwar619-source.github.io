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</p:sldIdLst>
  <p:sldSz cx="18288000" cy="10287000"/>
  <p:notesSz cx="6858000" cy="9144000"/>
  <p:embeddedFontLst>
    <p:embeddedFont>
      <p:font typeface="Glacial Indifference" charset="1" panose="00000000000000000000"/>
      <p:regular r:id="rId6"/>
    </p:embeddedFont>
    <p:embeddedFont>
      <p:font typeface="Glacial Indifference Bold" charset="1" panose="00000800000000000000"/>
      <p:regular r:id="rId7"/>
    </p:embeddedFont>
    <p:embeddedFont>
      <p:font typeface="Glacial Indifference Italics" charset="1" panose="00000000000000000000"/>
      <p:regular r:id="rId8"/>
    </p:embeddedFont>
    <p:embeddedFont>
      <p:font typeface="Glacial Indifference Bold Italics" charset="1" panose="00000800000000000000"/>
      <p:regular r:id="rId9"/>
    </p:embeddedFont>
    <p:embeddedFont>
      <p:font typeface="Arimo" charset="1" panose="020B0604020202020204"/>
      <p:regular r:id="rId10"/>
    </p:embeddedFont>
    <p:embeddedFont>
      <p:font typeface="Arimo Bold" charset="1" panose="020B0704020202020204"/>
      <p:regular r:id="rId11"/>
    </p:embeddedFont>
    <p:embeddedFont>
      <p:font typeface="Arimo Italics" charset="1" panose="020B0604020202090204"/>
      <p:regular r:id="rId12"/>
    </p:embeddedFont>
    <p:embeddedFont>
      <p:font typeface="Arimo Bold Italics" charset="1" panose="020B0704020202090204"/>
      <p:regular r:id="rId13"/>
    </p:embeddedFont>
    <p:embeddedFont>
      <p:font typeface="League Spartan" charset="1" panose="000008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slides/slide1.xml" Type="http://schemas.openxmlformats.org/officeDocument/2006/relationships/slide"/><Relationship Id="rId16" Target="slides/slide2.xml" Type="http://schemas.openxmlformats.org/officeDocument/2006/relationships/slide"/><Relationship Id="rId17" Target="slides/slide3.xml" Type="http://schemas.openxmlformats.org/officeDocument/2006/relationships/slide"/><Relationship Id="rId18" Target="slides/slide4.xml" Type="http://schemas.openxmlformats.org/officeDocument/2006/relationships/slide"/><Relationship Id="rId19" Target="slides/slide5.xml" Type="http://schemas.openxmlformats.org/officeDocument/2006/relationships/slide"/><Relationship Id="rId2" Target="presProps.xml" Type="http://schemas.openxmlformats.org/officeDocument/2006/relationships/presProps"/><Relationship Id="rId20" Target="slides/slide6.xml" Type="http://schemas.openxmlformats.org/officeDocument/2006/relationships/slide"/><Relationship Id="rId21" Target="slides/slide7.xml" Type="http://schemas.openxmlformats.org/officeDocument/2006/relationships/slide"/><Relationship Id="rId22" Target="slides/slide8.xml" Type="http://schemas.openxmlformats.org/officeDocument/2006/relationships/slide"/><Relationship Id="rId23" Target="slides/slide9.xml" Type="http://schemas.openxmlformats.org/officeDocument/2006/relationships/slide"/><Relationship Id="rId24" Target="slides/slide10.xml" Type="http://schemas.openxmlformats.org/officeDocument/2006/relationships/slide"/><Relationship Id="rId25" Target="slides/slide11.xml" Type="http://schemas.openxmlformats.org/officeDocument/2006/relationships/slide"/><Relationship Id="rId26" Target="slides/slide12.xml" Type="http://schemas.openxmlformats.org/officeDocument/2006/relationships/slide"/><Relationship Id="rId27" Target="slides/slide13.xml" Type="http://schemas.openxmlformats.org/officeDocument/2006/relationships/slide"/><Relationship Id="rId28" Target="slides/slide14.xml" Type="http://schemas.openxmlformats.org/officeDocument/2006/relationships/slide"/><Relationship Id="rId29" Target="slides/slide15.xml" Type="http://schemas.openxmlformats.org/officeDocument/2006/relationships/slide"/><Relationship Id="rId3" Target="viewProps.xml" Type="http://schemas.openxmlformats.org/officeDocument/2006/relationships/viewProps"/><Relationship Id="rId30" Target="slides/slide16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028700" y="1028700"/>
            <a:ext cx="3301263" cy="2346898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29789" t="0" r="25375" b="0"/>
          <a:stretch>
            <a:fillRect/>
          </a:stretch>
        </p:blipFill>
        <p:spPr>
          <a:xfrm flipH="false" flipV="false" rot="0">
            <a:off x="10303002" y="-1428076"/>
            <a:ext cx="8839105" cy="13143152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864454" y="4802156"/>
            <a:ext cx="8839935" cy="3818751"/>
            <a:chOff x="0" y="0"/>
            <a:chExt cx="11786581" cy="509166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11786581" cy="4164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20"/>
                </a:lnSpc>
              </a:pPr>
              <a:r>
                <a:rPr lang="en-US" sz="6400">
                  <a:solidFill>
                    <a:srgbClr val="FFFFFF"/>
                  </a:solidFill>
                  <a:latin typeface="League Spartan"/>
                </a:rPr>
                <a:t>Bus</a:t>
              </a:r>
              <a:r>
                <a:rPr lang="en-US" sz="6400">
                  <a:solidFill>
                    <a:srgbClr val="FFFFFF"/>
                  </a:solidFill>
                  <a:latin typeface="League Spartan"/>
                </a:rPr>
                <a:t>iness</a:t>
              </a:r>
            </a:p>
            <a:p>
              <a:pPr algn="l">
                <a:lnSpc>
                  <a:spcPts val="8320"/>
                </a:lnSpc>
              </a:pPr>
              <a:r>
                <a:rPr lang="en-US" sz="6400">
                  <a:solidFill>
                    <a:srgbClr val="FFFFFF"/>
                  </a:solidFill>
                  <a:latin typeface="League Spartan"/>
                </a:rPr>
                <a:t>Communication – Session A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415394"/>
              <a:ext cx="11171848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FAFAFA"/>
                  </a:solidFill>
                  <a:latin typeface="Glacial Indifference"/>
                </a:rPr>
                <a:t>V</a:t>
              </a:r>
              <a:r>
                <a:rPr lang="en-US" sz="3000">
                  <a:solidFill>
                    <a:srgbClr val="FAFAFA"/>
                  </a:solidFill>
                  <a:latin typeface="Glacial Indifference"/>
                </a:rPr>
                <a:t>erbal Communication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64454" y="9103717"/>
            <a:ext cx="9449297" cy="271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40"/>
              </a:lnSpc>
            </a:pPr>
            <a:r>
              <a:rPr lang="en-US" sz="1528" spc="305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612063" y="4278699"/>
            <a:ext cx="6448241" cy="1729601"/>
            <a:chOff x="0" y="0"/>
            <a:chExt cx="8597654" cy="230613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8597654" cy="1379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450"/>
                </a:lnSpc>
              </a:pPr>
              <a:r>
                <a:rPr lang="en-US" sz="6500">
                  <a:solidFill>
                    <a:srgbClr val="DF5A49"/>
                  </a:solidFill>
                  <a:latin typeface="League Spartan"/>
                </a:rPr>
                <a:t>Objectives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658435"/>
              <a:ext cx="8597654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00"/>
                </a:lnSpc>
              </a:pPr>
              <a:r>
                <a:rPr lang="en-US" sz="3000">
                  <a:solidFill>
                    <a:srgbClr val="DF5A49"/>
                  </a:solidFill>
                  <a:latin typeface="Glacial Indifference Bold"/>
                </a:rPr>
                <a:t>Key Points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151377" y="3402330"/>
            <a:ext cx="9272169" cy="338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FAFAFA"/>
                </a:solidFill>
                <a:latin typeface="Glacial Indifference"/>
              </a:rPr>
              <a:t>C</a:t>
            </a:r>
            <a:r>
              <a:rPr lang="en-US" sz="4800">
                <a:solidFill>
                  <a:srgbClr val="FAFAFA"/>
                </a:solidFill>
                <a:latin typeface="Glacial Indifference"/>
              </a:rPr>
              <a:t>ommunication</a:t>
            </a:r>
          </a:p>
          <a:p>
            <a:pPr algn="l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FAFAFA"/>
                </a:solidFill>
                <a:latin typeface="Glacial Indifference"/>
              </a:rPr>
              <a:t>Techniques</a:t>
            </a:r>
          </a:p>
          <a:p>
            <a:pPr algn="l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FAFAFA"/>
                </a:solidFill>
                <a:latin typeface="Glacial Indifference"/>
              </a:rPr>
              <a:t>Speaking and Writing</a:t>
            </a:r>
          </a:p>
          <a:p>
            <a:pPr algn="l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FAFAFA"/>
                </a:solidFill>
                <a:latin typeface="Glacial Indifference"/>
              </a:rPr>
              <a:t>General Tips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41000" y="9582499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2776092" y="1695571"/>
            <a:ext cx="4483208" cy="6895858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373679" y="3587670"/>
            <a:ext cx="1555830" cy="155583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4232946" y="3645247"/>
            <a:ext cx="1440676" cy="1440676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7398413" y="3433489"/>
            <a:ext cx="1864192" cy="1864192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1385189" y="6736047"/>
            <a:ext cx="1532811" cy="1532811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rcRect l="0" t="0" r="0" b="0"/>
          <a:stretch>
            <a:fillRect/>
          </a:stretch>
        </p:blipFill>
        <p:spPr>
          <a:xfrm flipH="false" flipV="false" rot="0">
            <a:off x="4084520" y="6633688"/>
            <a:ext cx="1737529" cy="1737529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7290300" y="6462243"/>
            <a:ext cx="2080419" cy="2080419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864454" y="816829"/>
            <a:ext cx="10107822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0"/>
              </a:lnSpc>
            </a:pPr>
            <a:r>
              <a:rPr lang="en-US" sz="5600">
                <a:solidFill>
                  <a:srgbClr val="FFFFFF"/>
                </a:solidFill>
                <a:latin typeface="League Spartan"/>
              </a:rPr>
              <a:t>Wh</a:t>
            </a:r>
            <a:r>
              <a:rPr lang="en-US" sz="5600">
                <a:solidFill>
                  <a:srgbClr val="FFFFFF"/>
                </a:solidFill>
                <a:latin typeface="League Spartan"/>
              </a:rPr>
              <a:t>at is Communication?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4454" y="1965405"/>
            <a:ext cx="9387432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AFAFA"/>
                </a:solidFill>
                <a:latin typeface="Glacial Indifference Bold"/>
              </a:rPr>
              <a:t>An act of transferri</a:t>
            </a:r>
            <a:r>
              <a:rPr lang="en-US" sz="3000">
                <a:solidFill>
                  <a:srgbClr val="FAFAFA"/>
                </a:solidFill>
                <a:latin typeface="Glacial Indifference Bold"/>
              </a:rPr>
              <a:t>ng information from one place, person or group to another.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41000" y="9582499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3360" y="5491689"/>
            <a:ext cx="283646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>
                <a:solidFill>
                  <a:srgbClr val="FAFAFA"/>
                </a:solidFill>
                <a:latin typeface="Glacial Indifference Bold"/>
              </a:rPr>
              <a:t>Speaking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35050" y="5491689"/>
            <a:ext cx="283646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>
                <a:solidFill>
                  <a:srgbClr val="FAFAFA"/>
                </a:solidFill>
                <a:latin typeface="Glacial Indifference Bold"/>
              </a:rPr>
              <a:t>Listening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12275" y="5491689"/>
            <a:ext cx="283646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>
                <a:solidFill>
                  <a:srgbClr val="FAFAFA"/>
                </a:solidFill>
                <a:latin typeface="Glacial Indifference Bold"/>
              </a:rPr>
              <a:t>Watching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3360" y="8515229"/>
            <a:ext cx="283646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>
                <a:solidFill>
                  <a:srgbClr val="FAFAFA"/>
                </a:solidFill>
                <a:latin typeface="Glacial Indifference Bold"/>
              </a:rPr>
              <a:t>Touch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35050" y="8515229"/>
            <a:ext cx="283646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>
                <a:solidFill>
                  <a:srgbClr val="FAFAFA"/>
                </a:solidFill>
                <a:latin typeface="Glacial Indifference Bold"/>
              </a:rPr>
              <a:t>Smell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12275" y="8504562"/>
            <a:ext cx="283646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>
                <a:solidFill>
                  <a:srgbClr val="FAFAFA"/>
                </a:solidFill>
                <a:latin typeface="Glacial Indifference Bold"/>
              </a:rPr>
              <a:t>Taste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7750" y="4259215"/>
            <a:ext cx="2828925" cy="2828925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EEA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98563" y="4259215"/>
            <a:ext cx="2828925" cy="2828925"/>
            <a:chOff x="0" y="0"/>
            <a:chExt cx="1913890" cy="1913890"/>
          </a:xfrm>
        </p:grpSpPr>
        <p:sp>
          <p:nvSpPr>
            <p:cNvPr name="Freeform 5" id="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FEEA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57836" y="4341860"/>
            <a:ext cx="3299029" cy="2663636"/>
            <a:chOff x="0" y="0"/>
            <a:chExt cx="6350000" cy="5126990"/>
          </a:xfrm>
        </p:grpSpPr>
        <p:sp>
          <p:nvSpPr>
            <p:cNvPr name="Freeform 7" id="7"/>
            <p:cNvSpPr/>
            <p:nvPr/>
          </p:nvSpPr>
          <p:spPr>
            <a:xfrm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EEA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123299" y="4259215"/>
            <a:ext cx="2828925" cy="2828925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EEA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-10800000">
            <a:off x="4486675" y="8105558"/>
            <a:ext cx="9763295" cy="575985"/>
            <a:chOff x="0" y="0"/>
            <a:chExt cx="8610906" cy="508000"/>
          </a:xfrm>
        </p:grpSpPr>
        <p:sp>
          <p:nvSpPr>
            <p:cNvPr name="Freeform 11" id="11"/>
            <p:cNvSpPr/>
            <p:nvPr/>
          </p:nvSpPr>
          <p:spPr>
            <a:xfrm>
              <a:off x="0" y="215900"/>
              <a:ext cx="8314996" cy="76200"/>
            </a:xfrm>
            <a:custGeom>
              <a:avLst/>
              <a:gdLst/>
              <a:ahLst/>
              <a:cxnLst/>
              <a:rect r="r" b="b" t="t" l="l"/>
              <a:pathLst>
                <a:path h="76200" w="8314996">
                  <a:moveTo>
                    <a:pt x="0" y="0"/>
                  </a:moveTo>
                  <a:lnTo>
                    <a:pt x="8314996" y="0"/>
                  </a:lnTo>
                  <a:lnTo>
                    <a:pt x="831499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FEEA5"/>
            </a:solidFill>
          </p:spPr>
        </p:sp>
        <p:sp>
          <p:nvSpPr>
            <p:cNvPr name="Freeform 12" id="12"/>
            <p:cNvSpPr/>
            <p:nvPr/>
          </p:nvSpPr>
          <p:spPr>
            <a:xfrm>
              <a:off x="8236256" y="1270"/>
              <a:ext cx="374650" cy="505460"/>
            </a:xfrm>
            <a:custGeom>
              <a:avLst/>
              <a:gdLst/>
              <a:ahLst/>
              <a:cxnLst/>
              <a:rect r="r" b="b" t="t" l="l"/>
              <a:pathLst>
                <a:path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FFEEA5"/>
            </a:solidFill>
          </p:spPr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4549983" y="7005496"/>
            <a:ext cx="2582165" cy="2206578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 rot="0">
            <a:off x="4114800" y="4873982"/>
            <a:ext cx="10058400" cy="1599392"/>
            <a:chOff x="0" y="0"/>
            <a:chExt cx="3594100" cy="571500"/>
          </a:xfrm>
        </p:grpSpPr>
        <p:sp>
          <p:nvSpPr>
            <p:cNvPr name="Freeform 15" id="15"/>
            <p:cNvSpPr/>
            <p:nvPr/>
          </p:nvSpPr>
          <p:spPr>
            <a:xfrm>
              <a:off x="0" y="255270"/>
              <a:ext cx="3594100" cy="69850"/>
            </a:xfrm>
            <a:custGeom>
              <a:avLst/>
              <a:gdLst/>
              <a:ahLst/>
              <a:cxnLst/>
              <a:rect r="r" b="b" t="t" l="l"/>
              <a:pathLst>
                <a:path h="69850" w="3594100">
                  <a:moveTo>
                    <a:pt x="330327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594100" y="69850"/>
                  </a:lnTo>
                  <a:lnTo>
                    <a:pt x="3594100" y="0"/>
                  </a:lnTo>
                  <a:close/>
                </a:path>
              </a:pathLst>
            </a:custGeom>
            <a:solidFill>
              <a:srgbClr val="FFEEA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60958" y="1981736"/>
            <a:ext cx="3222509" cy="2277479"/>
            <a:chOff x="0" y="0"/>
            <a:chExt cx="7620000" cy="5385366"/>
          </a:xfrm>
        </p:grpSpPr>
        <p:sp>
          <p:nvSpPr>
            <p:cNvPr name="Freeform 17" id="17"/>
            <p:cNvSpPr/>
            <p:nvPr/>
          </p:nvSpPr>
          <p:spPr>
            <a:xfrm>
              <a:off x="0" y="0"/>
              <a:ext cx="7620000" cy="5385366"/>
            </a:xfrm>
            <a:custGeom>
              <a:avLst/>
              <a:gdLst/>
              <a:ahLst/>
              <a:cxnLst/>
              <a:rect r="r" b="b" t="t" l="l"/>
              <a:pathLst>
                <a:path h="5385366" w="7620000">
                  <a:moveTo>
                    <a:pt x="0" y="0"/>
                  </a:moveTo>
                  <a:lnTo>
                    <a:pt x="0" y="5076756"/>
                  </a:lnTo>
                  <a:lnTo>
                    <a:pt x="3707130" y="5076756"/>
                  </a:lnTo>
                  <a:lnTo>
                    <a:pt x="3834130" y="5385366"/>
                  </a:lnTo>
                  <a:lnTo>
                    <a:pt x="3961130" y="5076756"/>
                  </a:lnTo>
                  <a:lnTo>
                    <a:pt x="7620000" y="5076756"/>
                  </a:lnTo>
                  <a:lnTo>
                    <a:pt x="762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64454" y="821591"/>
            <a:ext cx="8956031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4800">
                <a:solidFill>
                  <a:srgbClr val="FFFFFF"/>
                </a:solidFill>
                <a:latin typeface="League Spartan"/>
              </a:rPr>
              <a:t>The</a:t>
            </a:r>
            <a:r>
              <a:rPr lang="en-US" sz="4800">
                <a:solidFill>
                  <a:srgbClr val="FFFFFF"/>
                </a:solidFill>
                <a:latin typeface="League Spartan"/>
              </a:rPr>
              <a:t> Communication Process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50206" y="5406978"/>
            <a:ext cx="283646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>
                <a:solidFill>
                  <a:srgbClr val="000000"/>
                </a:solidFill>
                <a:latin typeface="Glacial Indifference Bold"/>
              </a:rPr>
              <a:t>SENDER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91020" y="5406978"/>
            <a:ext cx="283646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>
                <a:solidFill>
                  <a:srgbClr val="000000"/>
                </a:solidFill>
                <a:latin typeface="Glacial Indifference Bold"/>
              </a:rPr>
              <a:t>MESSAGE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15614" y="5406978"/>
            <a:ext cx="283646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>
                <a:solidFill>
                  <a:srgbClr val="000000"/>
                </a:solidFill>
                <a:latin typeface="Glacial Indifference Bold"/>
              </a:rPr>
              <a:t>CHANNEL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23299" y="5406978"/>
            <a:ext cx="283646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>
                <a:solidFill>
                  <a:srgbClr val="000000"/>
                </a:solidFill>
                <a:latin typeface="Glacial Indifference Bold"/>
              </a:rPr>
              <a:t>RECEIVER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542244" y="7898250"/>
            <a:ext cx="836018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900"/>
              </a:lnSpc>
            </a:pPr>
            <a:r>
              <a:rPr lang="en-US" sz="3000">
                <a:solidFill>
                  <a:srgbClr val="FAFAFA"/>
                </a:solidFill>
                <a:latin typeface="Glacial Indifference Bold"/>
              </a:rPr>
              <a:t>The response from the Receiver to </a:t>
            </a:r>
            <a:r>
              <a:rPr lang="en-US" sz="1200">
                <a:solidFill>
                  <a:srgbClr val="FAFAFA"/>
                </a:solidFill>
                <a:latin typeface="Arimo Bold"/>
              </a:rPr>
              <a:t>the Sender.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341000" y="9582499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422831" y="7738748"/>
            <a:ext cx="2836469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>
                <a:solidFill>
                  <a:srgbClr val="000000"/>
                </a:solidFill>
                <a:latin typeface="Glacial Indifference Bold"/>
              </a:rPr>
              <a:t>FEEDBACK</a:t>
            </a:r>
          </a:p>
          <a:p>
            <a:pPr algn="ctr">
              <a:lnSpc>
                <a:spcPts val="3900"/>
              </a:lnSpc>
            </a:pPr>
            <a:r>
              <a:rPr lang="en-US" sz="3000">
                <a:solidFill>
                  <a:srgbClr val="000000"/>
                </a:solidFill>
                <a:latin typeface="Glacial Indifference Bold"/>
              </a:rPr>
              <a:t>CONTEXT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45291" y="2204909"/>
            <a:ext cx="2653842" cy="1712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Glacial Indifference Bold"/>
              </a:rPr>
              <a:t>The</a:t>
            </a:r>
          </a:p>
          <a:p>
            <a:pPr algn="ctr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Glacial Indifference Bold"/>
              </a:rPr>
              <a:t>person initiating the communication or broadcasting the message.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342469" y="2052638"/>
            <a:ext cx="3222509" cy="2206578"/>
            <a:chOff x="0" y="0"/>
            <a:chExt cx="7620000" cy="5217712"/>
          </a:xfrm>
        </p:grpSpPr>
        <p:sp>
          <p:nvSpPr>
            <p:cNvPr name="Freeform 28" id="28"/>
            <p:cNvSpPr/>
            <p:nvPr/>
          </p:nvSpPr>
          <p:spPr>
            <a:xfrm>
              <a:off x="0" y="0"/>
              <a:ext cx="7620000" cy="5217712"/>
            </a:xfrm>
            <a:custGeom>
              <a:avLst/>
              <a:gdLst/>
              <a:ahLst/>
              <a:cxnLst/>
              <a:rect r="r" b="b" t="t" l="l"/>
              <a:pathLst>
                <a:path h="5217712" w="7620000">
                  <a:moveTo>
                    <a:pt x="0" y="0"/>
                  </a:moveTo>
                  <a:lnTo>
                    <a:pt x="0" y="4909102"/>
                  </a:lnTo>
                  <a:lnTo>
                    <a:pt x="3707130" y="4909102"/>
                  </a:lnTo>
                  <a:lnTo>
                    <a:pt x="3834130" y="5217712"/>
                  </a:lnTo>
                  <a:lnTo>
                    <a:pt x="3961130" y="4909102"/>
                  </a:lnTo>
                  <a:lnTo>
                    <a:pt x="7620000" y="4909102"/>
                  </a:lnTo>
                  <a:lnTo>
                    <a:pt x="762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5484636" y="2093920"/>
            <a:ext cx="2938175" cy="205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Glacial Indifference Bold"/>
              </a:rPr>
              <a:t>The</a:t>
            </a:r>
          </a:p>
          <a:p>
            <a:pPr algn="ctr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Glacial Indifference Bold"/>
              </a:rPr>
              <a:t>s</a:t>
            </a:r>
            <a:r>
              <a:rPr lang="en-US" sz="2100">
                <a:solidFill>
                  <a:srgbClr val="000000"/>
                </a:solidFill>
                <a:latin typeface="Glacial Indifference Bold"/>
              </a:rPr>
              <a:t>pecific set of words, gestures and images that the sender uses to convey what </a:t>
            </a:r>
            <a:r>
              <a:rPr lang="en-US" sz="2100">
                <a:solidFill>
                  <a:srgbClr val="000000"/>
                </a:solidFill>
                <a:latin typeface="Glacial Indifference Bold"/>
              </a:rPr>
              <a:t>h</a:t>
            </a:r>
            <a:r>
              <a:rPr lang="en-US" sz="2100">
                <a:solidFill>
                  <a:srgbClr val="000000"/>
                </a:solidFill>
                <a:latin typeface="Glacial Indifference Bold"/>
              </a:rPr>
              <a:t>e or she wants to say.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144000" y="2052638"/>
            <a:ext cx="3222509" cy="2206578"/>
            <a:chOff x="0" y="0"/>
            <a:chExt cx="7620000" cy="5217712"/>
          </a:xfrm>
        </p:grpSpPr>
        <p:sp>
          <p:nvSpPr>
            <p:cNvPr name="Freeform 31" id="31"/>
            <p:cNvSpPr/>
            <p:nvPr/>
          </p:nvSpPr>
          <p:spPr>
            <a:xfrm>
              <a:off x="0" y="0"/>
              <a:ext cx="7620000" cy="5217712"/>
            </a:xfrm>
            <a:custGeom>
              <a:avLst/>
              <a:gdLst/>
              <a:ahLst/>
              <a:cxnLst/>
              <a:rect r="r" b="b" t="t" l="l"/>
              <a:pathLst>
                <a:path h="5217712" w="7620000">
                  <a:moveTo>
                    <a:pt x="0" y="0"/>
                  </a:moveTo>
                  <a:lnTo>
                    <a:pt x="0" y="4909102"/>
                  </a:lnTo>
                  <a:lnTo>
                    <a:pt x="3707130" y="4909102"/>
                  </a:lnTo>
                  <a:lnTo>
                    <a:pt x="3834130" y="5217712"/>
                  </a:lnTo>
                  <a:lnTo>
                    <a:pt x="3961130" y="4909102"/>
                  </a:lnTo>
                  <a:lnTo>
                    <a:pt x="7620000" y="4909102"/>
                  </a:lnTo>
                  <a:lnTo>
                    <a:pt x="762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286167" y="2607100"/>
            <a:ext cx="2938175" cy="1028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Glacial Indifference Bold"/>
              </a:rPr>
              <a:t>The</a:t>
            </a:r>
          </a:p>
          <a:p>
            <a:pPr algn="ctr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Glacial Indifference Bold"/>
              </a:rPr>
              <a:t>channel through which the message moves.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3909640" y="1981736"/>
            <a:ext cx="3222509" cy="2206578"/>
            <a:chOff x="0" y="0"/>
            <a:chExt cx="7620000" cy="5217712"/>
          </a:xfrm>
        </p:grpSpPr>
        <p:sp>
          <p:nvSpPr>
            <p:cNvPr name="Freeform 34" id="34"/>
            <p:cNvSpPr/>
            <p:nvPr/>
          </p:nvSpPr>
          <p:spPr>
            <a:xfrm>
              <a:off x="0" y="0"/>
              <a:ext cx="7620000" cy="5217712"/>
            </a:xfrm>
            <a:custGeom>
              <a:avLst/>
              <a:gdLst/>
              <a:ahLst/>
              <a:cxnLst/>
              <a:rect r="r" b="b" t="t" l="l"/>
              <a:pathLst>
                <a:path h="5217712" w="7620000">
                  <a:moveTo>
                    <a:pt x="0" y="0"/>
                  </a:moveTo>
                  <a:lnTo>
                    <a:pt x="0" y="4909102"/>
                  </a:lnTo>
                  <a:lnTo>
                    <a:pt x="3707130" y="4909102"/>
                  </a:lnTo>
                  <a:lnTo>
                    <a:pt x="3834130" y="5217712"/>
                  </a:lnTo>
                  <a:lnTo>
                    <a:pt x="3961130" y="4909102"/>
                  </a:lnTo>
                  <a:lnTo>
                    <a:pt x="7620000" y="4909102"/>
                  </a:lnTo>
                  <a:lnTo>
                    <a:pt x="762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4051806" y="2204909"/>
            <a:ext cx="2938175" cy="1712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Glacial Indifference Bold"/>
              </a:rPr>
              <a:t>Receivers</a:t>
            </a:r>
          </a:p>
          <a:p>
            <a:pPr algn="ctr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Glacial Indifference Bold"/>
              </a:rPr>
              <a:t>(or the audience for the message) - from whom the receiver often expects a response.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1393" y="1966752"/>
            <a:ext cx="7270001" cy="7270001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43035" y="2598394"/>
            <a:ext cx="6006717" cy="6006717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EEA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098864" y="3254224"/>
            <a:ext cx="4695059" cy="4695059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840704" y="3996063"/>
            <a:ext cx="3211379" cy="3211379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5C00">
                <a:alpha val="60784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611258" y="4766617"/>
            <a:ext cx="1670271" cy="1670271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DF5A49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38864" y="615315"/>
            <a:ext cx="8956031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4800">
                <a:solidFill>
                  <a:srgbClr val="FFFFFF"/>
                </a:solidFill>
                <a:latin typeface="League Spartan"/>
              </a:rPr>
              <a:t>The</a:t>
            </a:r>
            <a:r>
              <a:rPr lang="en-US" sz="4800">
                <a:solidFill>
                  <a:srgbClr val="FFFFFF"/>
                </a:solidFill>
                <a:latin typeface="League Spartan"/>
              </a:rPr>
              <a:t> Communication Process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  <p:grpSp>
        <p:nvGrpSpPr>
          <p:cNvPr name="Group 14" id="14"/>
          <p:cNvGrpSpPr/>
          <p:nvPr/>
        </p:nvGrpSpPr>
        <p:grpSpPr>
          <a:xfrm rot="-10800000">
            <a:off x="5610071" y="5210052"/>
            <a:ext cx="4309576" cy="613418"/>
            <a:chOff x="0" y="0"/>
            <a:chExt cx="3015771" cy="429260"/>
          </a:xfrm>
        </p:grpSpPr>
        <p:sp>
          <p:nvSpPr>
            <p:cNvPr name="Freeform 15" id="15"/>
            <p:cNvSpPr/>
            <p:nvPr/>
          </p:nvSpPr>
          <p:spPr>
            <a:xfrm>
              <a:off x="0" y="-5080"/>
              <a:ext cx="3015772" cy="434340"/>
            </a:xfrm>
            <a:custGeom>
              <a:avLst/>
              <a:gdLst/>
              <a:ahLst/>
              <a:cxnLst/>
              <a:rect r="r" b="b" t="t" l="l"/>
              <a:pathLst>
                <a:path h="434340" w="3015772">
                  <a:moveTo>
                    <a:pt x="2997992" y="187960"/>
                  </a:moveTo>
                  <a:lnTo>
                    <a:pt x="2736372" y="11430"/>
                  </a:lnTo>
                  <a:cubicBezTo>
                    <a:pt x="2718591" y="0"/>
                    <a:pt x="2695732" y="3810"/>
                    <a:pt x="2683032" y="21590"/>
                  </a:cubicBezTo>
                  <a:cubicBezTo>
                    <a:pt x="2671601" y="39370"/>
                    <a:pt x="2675412" y="62230"/>
                    <a:pt x="2693191" y="74930"/>
                  </a:cubicBezTo>
                  <a:lnTo>
                    <a:pt x="2851941" y="181610"/>
                  </a:lnTo>
                  <a:lnTo>
                    <a:pt x="0" y="181610"/>
                  </a:lnTo>
                  <a:lnTo>
                    <a:pt x="0" y="257810"/>
                  </a:lnTo>
                  <a:lnTo>
                    <a:pt x="2851942" y="257810"/>
                  </a:lnTo>
                  <a:lnTo>
                    <a:pt x="2693192" y="364490"/>
                  </a:lnTo>
                  <a:cubicBezTo>
                    <a:pt x="2675412" y="375920"/>
                    <a:pt x="2671602" y="400050"/>
                    <a:pt x="2683032" y="417830"/>
                  </a:cubicBezTo>
                  <a:cubicBezTo>
                    <a:pt x="2690652" y="429260"/>
                    <a:pt x="2702082" y="434340"/>
                    <a:pt x="2714782" y="434340"/>
                  </a:cubicBezTo>
                  <a:cubicBezTo>
                    <a:pt x="2722402" y="434340"/>
                    <a:pt x="2730022" y="431800"/>
                    <a:pt x="2736372" y="427990"/>
                  </a:cubicBezTo>
                  <a:lnTo>
                    <a:pt x="2999262" y="251460"/>
                  </a:lnTo>
                  <a:cubicBezTo>
                    <a:pt x="3009422" y="243840"/>
                    <a:pt x="3015772" y="232410"/>
                    <a:pt x="3015772" y="219710"/>
                  </a:cubicBezTo>
                  <a:cubicBezTo>
                    <a:pt x="3015772" y="207010"/>
                    <a:pt x="3009422" y="195580"/>
                    <a:pt x="2997992" y="1879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86552" y="5250061"/>
            <a:ext cx="442303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900"/>
              </a:lnSpc>
            </a:pPr>
            <a:r>
              <a:rPr lang="en-US" sz="3000">
                <a:solidFill>
                  <a:srgbClr val="FAFAFA"/>
                </a:solidFill>
                <a:latin typeface="Glacial Indifference Bold"/>
              </a:rPr>
              <a:t>TO </a:t>
            </a:r>
            <a:r>
              <a:rPr lang="en-US" sz="1200">
                <a:solidFill>
                  <a:srgbClr val="FAFAFA"/>
                </a:solidFill>
                <a:latin typeface="Glacial Indifference Bold"/>
              </a:rPr>
              <a:t>CHANGE BEHAVIOR</a:t>
            </a:r>
          </a:p>
        </p:txBody>
      </p:sp>
      <p:grpSp>
        <p:nvGrpSpPr>
          <p:cNvPr name="Group 17" id="17"/>
          <p:cNvGrpSpPr/>
          <p:nvPr/>
        </p:nvGrpSpPr>
        <p:grpSpPr>
          <a:xfrm rot="-10800000">
            <a:off x="6191345" y="4459908"/>
            <a:ext cx="3728302" cy="613418"/>
            <a:chOff x="0" y="0"/>
            <a:chExt cx="2609005" cy="429260"/>
          </a:xfrm>
        </p:grpSpPr>
        <p:sp>
          <p:nvSpPr>
            <p:cNvPr name="Freeform 18" id="18"/>
            <p:cNvSpPr/>
            <p:nvPr/>
          </p:nvSpPr>
          <p:spPr>
            <a:xfrm>
              <a:off x="0" y="-5080"/>
              <a:ext cx="2609005" cy="434340"/>
            </a:xfrm>
            <a:custGeom>
              <a:avLst/>
              <a:gdLst/>
              <a:ahLst/>
              <a:cxnLst/>
              <a:rect r="r" b="b" t="t" l="l"/>
              <a:pathLst>
                <a:path h="434340" w="2609005">
                  <a:moveTo>
                    <a:pt x="2591225" y="187960"/>
                  </a:moveTo>
                  <a:lnTo>
                    <a:pt x="2329605" y="11430"/>
                  </a:lnTo>
                  <a:cubicBezTo>
                    <a:pt x="2311825" y="0"/>
                    <a:pt x="2288965" y="3810"/>
                    <a:pt x="2276265" y="21590"/>
                  </a:cubicBezTo>
                  <a:cubicBezTo>
                    <a:pt x="2264835" y="39370"/>
                    <a:pt x="2268645" y="62230"/>
                    <a:pt x="2286425" y="74930"/>
                  </a:cubicBezTo>
                  <a:lnTo>
                    <a:pt x="2445175" y="181610"/>
                  </a:lnTo>
                  <a:lnTo>
                    <a:pt x="0" y="181610"/>
                  </a:lnTo>
                  <a:lnTo>
                    <a:pt x="0" y="257810"/>
                  </a:lnTo>
                  <a:lnTo>
                    <a:pt x="2445175" y="257810"/>
                  </a:lnTo>
                  <a:lnTo>
                    <a:pt x="2286425" y="364490"/>
                  </a:lnTo>
                  <a:cubicBezTo>
                    <a:pt x="2268645" y="375920"/>
                    <a:pt x="2264835" y="400050"/>
                    <a:pt x="2276265" y="417830"/>
                  </a:cubicBezTo>
                  <a:cubicBezTo>
                    <a:pt x="2283885" y="429260"/>
                    <a:pt x="2295315" y="434340"/>
                    <a:pt x="2308015" y="434340"/>
                  </a:cubicBezTo>
                  <a:cubicBezTo>
                    <a:pt x="2315635" y="434340"/>
                    <a:pt x="2323255" y="431800"/>
                    <a:pt x="2329605" y="427990"/>
                  </a:cubicBezTo>
                  <a:lnTo>
                    <a:pt x="2592495" y="251460"/>
                  </a:lnTo>
                  <a:cubicBezTo>
                    <a:pt x="2602655" y="243840"/>
                    <a:pt x="2609005" y="232410"/>
                    <a:pt x="2609005" y="219710"/>
                  </a:cubicBezTo>
                  <a:cubicBezTo>
                    <a:pt x="2609005" y="207010"/>
                    <a:pt x="2602655" y="195580"/>
                    <a:pt x="2591225" y="1879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186552" y="4499917"/>
            <a:ext cx="316573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900"/>
              </a:lnSpc>
            </a:pPr>
            <a:r>
              <a:rPr lang="en-US" sz="3000">
                <a:solidFill>
                  <a:srgbClr val="FAFAFA"/>
                </a:solidFill>
                <a:latin typeface="Glacial Indifference Bold"/>
              </a:rPr>
              <a:t>TO </a:t>
            </a:r>
            <a:r>
              <a:rPr lang="en-US" sz="1200">
                <a:solidFill>
                  <a:srgbClr val="FAFAFA"/>
                </a:solidFill>
                <a:latin typeface="Glacial Indifference Bold"/>
              </a:rPr>
              <a:t>GET ACTION</a:t>
            </a:r>
          </a:p>
        </p:txBody>
      </p:sp>
      <p:grpSp>
        <p:nvGrpSpPr>
          <p:cNvPr name="Group 20" id="20"/>
          <p:cNvGrpSpPr/>
          <p:nvPr/>
        </p:nvGrpSpPr>
        <p:grpSpPr>
          <a:xfrm rot="-10800000">
            <a:off x="6191345" y="2769227"/>
            <a:ext cx="3728302" cy="613418"/>
            <a:chOff x="0" y="0"/>
            <a:chExt cx="2609005" cy="429260"/>
          </a:xfrm>
        </p:grpSpPr>
        <p:sp>
          <p:nvSpPr>
            <p:cNvPr name="Freeform 21" id="21"/>
            <p:cNvSpPr/>
            <p:nvPr/>
          </p:nvSpPr>
          <p:spPr>
            <a:xfrm>
              <a:off x="0" y="-5080"/>
              <a:ext cx="2609005" cy="434340"/>
            </a:xfrm>
            <a:custGeom>
              <a:avLst/>
              <a:gdLst/>
              <a:ahLst/>
              <a:cxnLst/>
              <a:rect r="r" b="b" t="t" l="l"/>
              <a:pathLst>
                <a:path h="434340" w="2609005">
                  <a:moveTo>
                    <a:pt x="2591225" y="187960"/>
                  </a:moveTo>
                  <a:lnTo>
                    <a:pt x="2329605" y="11430"/>
                  </a:lnTo>
                  <a:cubicBezTo>
                    <a:pt x="2311825" y="0"/>
                    <a:pt x="2288965" y="3810"/>
                    <a:pt x="2276265" y="21590"/>
                  </a:cubicBezTo>
                  <a:cubicBezTo>
                    <a:pt x="2264835" y="39370"/>
                    <a:pt x="2268645" y="62230"/>
                    <a:pt x="2286425" y="74930"/>
                  </a:cubicBezTo>
                  <a:lnTo>
                    <a:pt x="2445175" y="181610"/>
                  </a:lnTo>
                  <a:lnTo>
                    <a:pt x="0" y="181610"/>
                  </a:lnTo>
                  <a:lnTo>
                    <a:pt x="0" y="257810"/>
                  </a:lnTo>
                  <a:lnTo>
                    <a:pt x="2445175" y="257810"/>
                  </a:lnTo>
                  <a:lnTo>
                    <a:pt x="2286425" y="364490"/>
                  </a:lnTo>
                  <a:cubicBezTo>
                    <a:pt x="2268645" y="375920"/>
                    <a:pt x="2264835" y="400050"/>
                    <a:pt x="2276265" y="417830"/>
                  </a:cubicBezTo>
                  <a:cubicBezTo>
                    <a:pt x="2283885" y="429260"/>
                    <a:pt x="2295315" y="434340"/>
                    <a:pt x="2308015" y="434340"/>
                  </a:cubicBezTo>
                  <a:cubicBezTo>
                    <a:pt x="2315635" y="434340"/>
                    <a:pt x="2323255" y="431800"/>
                    <a:pt x="2329605" y="427990"/>
                  </a:cubicBezTo>
                  <a:lnTo>
                    <a:pt x="2592495" y="251460"/>
                  </a:lnTo>
                  <a:cubicBezTo>
                    <a:pt x="2602655" y="243840"/>
                    <a:pt x="2609005" y="232410"/>
                    <a:pt x="2609005" y="219710"/>
                  </a:cubicBezTo>
                  <a:cubicBezTo>
                    <a:pt x="2609005" y="207010"/>
                    <a:pt x="2602655" y="195580"/>
                    <a:pt x="2591225" y="1879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186552" y="2809236"/>
            <a:ext cx="522313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900"/>
              </a:lnSpc>
            </a:pPr>
            <a:r>
              <a:rPr lang="en-US" sz="3000">
                <a:solidFill>
                  <a:srgbClr val="FAFAFA"/>
                </a:solidFill>
                <a:latin typeface="Glacial Indifference Bold"/>
              </a:rPr>
              <a:t>TO ENSURE UND</a:t>
            </a:r>
            <a:r>
              <a:rPr lang="en-US" sz="1200">
                <a:solidFill>
                  <a:srgbClr val="FAFAFA"/>
                </a:solidFill>
                <a:latin typeface="Glacial Indifference Bold"/>
              </a:rPr>
              <a:t>ERSTANDING</a:t>
            </a:r>
          </a:p>
        </p:txBody>
      </p:sp>
      <p:grpSp>
        <p:nvGrpSpPr>
          <p:cNvPr name="Group 23" id="23"/>
          <p:cNvGrpSpPr/>
          <p:nvPr/>
        </p:nvGrpSpPr>
        <p:grpSpPr>
          <a:xfrm rot="-10800000">
            <a:off x="6191345" y="3611245"/>
            <a:ext cx="3728302" cy="613418"/>
            <a:chOff x="0" y="0"/>
            <a:chExt cx="2609005" cy="429260"/>
          </a:xfrm>
        </p:grpSpPr>
        <p:sp>
          <p:nvSpPr>
            <p:cNvPr name="Freeform 24" id="24"/>
            <p:cNvSpPr/>
            <p:nvPr/>
          </p:nvSpPr>
          <p:spPr>
            <a:xfrm>
              <a:off x="0" y="-5080"/>
              <a:ext cx="2609005" cy="434340"/>
            </a:xfrm>
            <a:custGeom>
              <a:avLst/>
              <a:gdLst/>
              <a:ahLst/>
              <a:cxnLst/>
              <a:rect r="r" b="b" t="t" l="l"/>
              <a:pathLst>
                <a:path h="434340" w="2609005">
                  <a:moveTo>
                    <a:pt x="2591225" y="187960"/>
                  </a:moveTo>
                  <a:lnTo>
                    <a:pt x="2329605" y="11430"/>
                  </a:lnTo>
                  <a:cubicBezTo>
                    <a:pt x="2311825" y="0"/>
                    <a:pt x="2288965" y="3810"/>
                    <a:pt x="2276265" y="21590"/>
                  </a:cubicBezTo>
                  <a:cubicBezTo>
                    <a:pt x="2264835" y="39370"/>
                    <a:pt x="2268645" y="62230"/>
                    <a:pt x="2286425" y="74930"/>
                  </a:cubicBezTo>
                  <a:lnTo>
                    <a:pt x="2445175" y="181610"/>
                  </a:lnTo>
                  <a:lnTo>
                    <a:pt x="0" y="181610"/>
                  </a:lnTo>
                  <a:lnTo>
                    <a:pt x="0" y="257810"/>
                  </a:lnTo>
                  <a:lnTo>
                    <a:pt x="2445175" y="257810"/>
                  </a:lnTo>
                  <a:lnTo>
                    <a:pt x="2286425" y="364490"/>
                  </a:lnTo>
                  <a:cubicBezTo>
                    <a:pt x="2268645" y="375920"/>
                    <a:pt x="2264835" y="400050"/>
                    <a:pt x="2276265" y="417830"/>
                  </a:cubicBezTo>
                  <a:cubicBezTo>
                    <a:pt x="2283885" y="429260"/>
                    <a:pt x="2295315" y="434340"/>
                    <a:pt x="2308015" y="434340"/>
                  </a:cubicBezTo>
                  <a:cubicBezTo>
                    <a:pt x="2315635" y="434340"/>
                    <a:pt x="2323255" y="431800"/>
                    <a:pt x="2329605" y="427990"/>
                  </a:cubicBezTo>
                  <a:lnTo>
                    <a:pt x="2592495" y="251460"/>
                  </a:lnTo>
                  <a:cubicBezTo>
                    <a:pt x="2602655" y="243840"/>
                    <a:pt x="2609005" y="232410"/>
                    <a:pt x="2609005" y="219710"/>
                  </a:cubicBezTo>
                  <a:cubicBezTo>
                    <a:pt x="2609005" y="207010"/>
                    <a:pt x="2602655" y="195580"/>
                    <a:pt x="2591225" y="1879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186552" y="3651254"/>
            <a:ext cx="522313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900"/>
              </a:lnSpc>
            </a:pPr>
            <a:r>
              <a:rPr lang="en-US" sz="3000">
                <a:solidFill>
                  <a:srgbClr val="FAFAFA"/>
                </a:solidFill>
                <a:latin typeface="Glacial Indifference Bold"/>
              </a:rPr>
              <a:t>TO P</a:t>
            </a:r>
            <a:r>
              <a:rPr lang="en-US" sz="1200">
                <a:solidFill>
                  <a:srgbClr val="FAFAFA"/>
                </a:solidFill>
                <a:latin typeface="Glacial Indifference Bold"/>
              </a:rPr>
              <a:t>ERSUADE</a:t>
            </a:r>
          </a:p>
        </p:txBody>
      </p:sp>
      <p:grpSp>
        <p:nvGrpSpPr>
          <p:cNvPr name="Group 26" id="26"/>
          <p:cNvGrpSpPr/>
          <p:nvPr/>
        </p:nvGrpSpPr>
        <p:grpSpPr>
          <a:xfrm rot="-10800000">
            <a:off x="6281529" y="1966752"/>
            <a:ext cx="3638118" cy="613418"/>
            <a:chOff x="0" y="0"/>
            <a:chExt cx="2545896" cy="429260"/>
          </a:xfrm>
        </p:grpSpPr>
        <p:sp>
          <p:nvSpPr>
            <p:cNvPr name="Freeform 27" id="27"/>
            <p:cNvSpPr/>
            <p:nvPr/>
          </p:nvSpPr>
          <p:spPr>
            <a:xfrm>
              <a:off x="0" y="-5080"/>
              <a:ext cx="2545896" cy="434340"/>
            </a:xfrm>
            <a:custGeom>
              <a:avLst/>
              <a:gdLst/>
              <a:ahLst/>
              <a:cxnLst/>
              <a:rect r="r" b="b" t="t" l="l"/>
              <a:pathLst>
                <a:path h="434340" w="2545896">
                  <a:moveTo>
                    <a:pt x="2528116" y="187960"/>
                  </a:moveTo>
                  <a:lnTo>
                    <a:pt x="2266496" y="11430"/>
                  </a:lnTo>
                  <a:cubicBezTo>
                    <a:pt x="2248716" y="0"/>
                    <a:pt x="2225856" y="3810"/>
                    <a:pt x="2213156" y="21590"/>
                  </a:cubicBezTo>
                  <a:cubicBezTo>
                    <a:pt x="2201726" y="39370"/>
                    <a:pt x="2205536" y="62230"/>
                    <a:pt x="2223316" y="74930"/>
                  </a:cubicBezTo>
                  <a:lnTo>
                    <a:pt x="2382066" y="181610"/>
                  </a:lnTo>
                  <a:lnTo>
                    <a:pt x="0" y="181610"/>
                  </a:lnTo>
                  <a:lnTo>
                    <a:pt x="0" y="257810"/>
                  </a:lnTo>
                  <a:lnTo>
                    <a:pt x="2382066" y="257810"/>
                  </a:lnTo>
                  <a:lnTo>
                    <a:pt x="2223316" y="364490"/>
                  </a:lnTo>
                  <a:cubicBezTo>
                    <a:pt x="2205536" y="375920"/>
                    <a:pt x="2201726" y="400050"/>
                    <a:pt x="2213156" y="417830"/>
                  </a:cubicBezTo>
                  <a:cubicBezTo>
                    <a:pt x="2220776" y="429260"/>
                    <a:pt x="2232206" y="434340"/>
                    <a:pt x="2244906" y="434340"/>
                  </a:cubicBezTo>
                  <a:cubicBezTo>
                    <a:pt x="2252526" y="434340"/>
                    <a:pt x="2260146" y="431800"/>
                    <a:pt x="2266496" y="427990"/>
                  </a:cubicBezTo>
                  <a:lnTo>
                    <a:pt x="2529386" y="251460"/>
                  </a:lnTo>
                  <a:cubicBezTo>
                    <a:pt x="2539546" y="243840"/>
                    <a:pt x="2545896" y="232410"/>
                    <a:pt x="2545896" y="219710"/>
                  </a:cubicBezTo>
                  <a:cubicBezTo>
                    <a:pt x="2545896" y="207010"/>
                    <a:pt x="2539546" y="195580"/>
                    <a:pt x="2528116" y="1879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186552" y="2084871"/>
            <a:ext cx="600037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900"/>
              </a:lnSpc>
            </a:pPr>
            <a:r>
              <a:rPr lang="en-US" sz="3000">
                <a:solidFill>
                  <a:srgbClr val="FAFAFA"/>
                </a:solidFill>
                <a:latin typeface="Glacial Indifference Bold"/>
              </a:rPr>
              <a:t>TO GET AND GIV</a:t>
            </a:r>
            <a:r>
              <a:rPr lang="en-US" sz="1200">
                <a:solidFill>
                  <a:srgbClr val="FAFAFA"/>
                </a:solidFill>
                <a:latin typeface="Glacial Indifference Bold"/>
              </a:rPr>
              <a:t>E INFORMATION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474903" y="3789114"/>
            <a:ext cx="6859721" cy="2708771"/>
            <a:chOff x="0" y="0"/>
            <a:chExt cx="9146294" cy="361169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9146294" cy="26845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060"/>
                </a:lnSpc>
              </a:pPr>
              <a:r>
                <a:rPr lang="en-US" sz="6200">
                  <a:solidFill>
                    <a:srgbClr val="DF5A49"/>
                  </a:solidFill>
                  <a:latin typeface="League Spartan"/>
                </a:rPr>
                <a:t>Types of Communication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963995"/>
              <a:ext cx="9146294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00"/>
                </a:lnSpc>
              </a:pPr>
              <a:r>
                <a:rPr lang="en-US" sz="3000">
                  <a:solidFill>
                    <a:srgbClr val="DF5A49"/>
                  </a:solidFill>
                  <a:latin typeface="Glacial Indifference Bold"/>
                </a:rPr>
                <a:t>Differential Points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151377" y="1602105"/>
            <a:ext cx="9272169" cy="701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On </a:t>
            </a:r>
            <a:r>
              <a:rPr lang="en-US" sz="3600">
                <a:solidFill>
                  <a:srgbClr val="FAFAFA"/>
                </a:solidFill>
                <a:latin typeface="Arimo"/>
              </a:rPr>
              <a:t>the basis </a:t>
            </a:r>
            <a:r>
              <a:rPr lang="en-US" sz="3600">
                <a:solidFill>
                  <a:srgbClr val="FAFAFA"/>
                </a:solidFill>
                <a:latin typeface="Glacial Indifference"/>
              </a:rPr>
              <a:t>of Organisation Relationship</a:t>
            </a:r>
          </a:p>
          <a:p>
            <a:pPr algn="l"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Formal</a:t>
            </a:r>
          </a:p>
          <a:p>
            <a:pPr algn="l"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Informal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On the basis of Flow</a:t>
            </a:r>
          </a:p>
          <a:p>
            <a:pPr algn="l"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Vertical</a:t>
            </a:r>
          </a:p>
          <a:p>
            <a:pPr algn="l"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Crosswise/ Diagonal</a:t>
            </a:r>
          </a:p>
          <a:p>
            <a:pPr algn="l"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Horizontal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On the basis of Expression</a:t>
            </a:r>
          </a:p>
          <a:p>
            <a:pPr algn="l"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Oral</a:t>
            </a:r>
          </a:p>
          <a:p>
            <a:pPr algn="l"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Written</a:t>
            </a:r>
          </a:p>
          <a:p>
            <a:pPr algn="l"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Gesture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474903" y="3789114"/>
            <a:ext cx="6859721" cy="2708771"/>
            <a:chOff x="0" y="0"/>
            <a:chExt cx="9146294" cy="361169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9146294" cy="26845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060"/>
                </a:lnSpc>
              </a:pPr>
              <a:r>
                <a:rPr lang="en-US" sz="6200">
                  <a:solidFill>
                    <a:srgbClr val="DF5A49"/>
                  </a:solidFill>
                  <a:latin typeface="League Spartan"/>
                </a:rPr>
                <a:t>Barriers to Communication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963995"/>
              <a:ext cx="9146294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00"/>
                </a:lnSpc>
              </a:pPr>
              <a:r>
                <a:rPr lang="en-US" sz="3000">
                  <a:solidFill>
                    <a:srgbClr val="DF5A49"/>
                  </a:solidFill>
                  <a:latin typeface="Glacial Indifference Bold"/>
                </a:rPr>
                <a:t>Roadblocks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148881" y="1602105"/>
            <a:ext cx="9272169" cy="701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Semantic Barriers</a:t>
            </a:r>
          </a:p>
          <a:p>
            <a:pPr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Symbols with different meaning, badly expressed message, faulty translation, un-clarified assumption, specialist’s language.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Emotional or Psychological Barriers</a:t>
            </a:r>
          </a:p>
          <a:p>
            <a:pPr algn="l"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Premature evolution, inattention, loss of transmission &amp; poor retention, undue reliance on the written word, distrust of communication, failure to communicate.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474903" y="3789114"/>
            <a:ext cx="6859721" cy="2708771"/>
            <a:chOff x="0" y="0"/>
            <a:chExt cx="9146294" cy="361169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9146294" cy="26845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060"/>
                </a:lnSpc>
              </a:pPr>
              <a:r>
                <a:rPr lang="en-US" sz="6200">
                  <a:solidFill>
                    <a:srgbClr val="DF5A49"/>
                  </a:solidFill>
                  <a:latin typeface="League Spartan"/>
                </a:rPr>
                <a:t>Barriers to Communication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963995"/>
              <a:ext cx="9146294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00"/>
                </a:lnSpc>
              </a:pPr>
              <a:r>
                <a:rPr lang="en-US" sz="3000">
                  <a:solidFill>
                    <a:srgbClr val="DF5A49"/>
                  </a:solidFill>
                  <a:latin typeface="Glacial Indifference Bold"/>
                </a:rPr>
                <a:t>Roadblocks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148881" y="1282065"/>
            <a:ext cx="9272169" cy="7656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Organizational Barriers</a:t>
            </a:r>
          </a:p>
          <a:p>
            <a:pPr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Organizational policy, rules and regulations, status relation, complexity in organization.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Personal Barriers</a:t>
            </a:r>
          </a:p>
          <a:p>
            <a:pPr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Barriers in Superior - Attitude of Supervisor, fear of challenge of authority, lack of time, lack of awareness.</a:t>
            </a:r>
          </a:p>
          <a:p>
            <a:pPr algn="l"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Barriers in subordinates - Unwillingness to communicate, lack of proper incentive.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474903" y="3789114"/>
            <a:ext cx="6859721" cy="2708771"/>
            <a:chOff x="0" y="0"/>
            <a:chExt cx="9146294" cy="361169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9146294" cy="26845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060"/>
                </a:lnSpc>
              </a:pPr>
              <a:r>
                <a:rPr lang="en-US" sz="6200">
                  <a:solidFill>
                    <a:srgbClr val="DF5A49"/>
                  </a:solidFill>
                  <a:latin typeface="League Spartan"/>
                </a:rPr>
                <a:t>Components of Communication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963995"/>
              <a:ext cx="9146294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00"/>
                </a:lnSpc>
              </a:pPr>
              <a:r>
                <a:rPr lang="en-US" sz="3000">
                  <a:solidFill>
                    <a:srgbClr val="DF5A49"/>
                  </a:solidFill>
                  <a:latin typeface="Glacial Indifference Bold"/>
                </a:rPr>
                <a:t>3 Main Aspects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148881" y="1922145"/>
            <a:ext cx="9272169" cy="637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Components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Verbal </a:t>
            </a:r>
            <a:r>
              <a:rPr lang="en-US" sz="1200">
                <a:solidFill>
                  <a:srgbClr val="FAFAFA"/>
                </a:solidFill>
                <a:latin typeface="Arimo"/>
              </a:rPr>
              <a:t>messages - the words we choose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AFAFA"/>
                </a:solidFill>
                <a:latin typeface="Arimo"/>
              </a:rPr>
              <a:t>Paraverbal messages – how we say the words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AFAFA"/>
                </a:solidFill>
                <a:latin typeface="Arimo"/>
              </a:rPr>
              <a:t>Nonverbal messages – our body language</a:t>
            </a:r>
          </a:p>
          <a:p>
            <a:pPr>
              <a:lnSpc>
                <a:spcPts val="5040"/>
              </a:lnSpc>
            </a:pPr>
          </a:p>
          <a:p>
            <a:pPr>
              <a:lnSpc>
                <a:spcPts val="5040"/>
              </a:lnSpc>
            </a:pPr>
            <a:r>
              <a:rPr lang="en-US" sz="1200">
                <a:solidFill>
                  <a:srgbClr val="FAFAFA"/>
                </a:solidFill>
                <a:latin typeface="Arimo"/>
              </a:rPr>
              <a:t>These 3 components are used to: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AFAFA"/>
                </a:solidFill>
                <a:latin typeface="Arimo"/>
              </a:rPr>
              <a:t>Send clear, concise messages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AFAFA"/>
                </a:solidFill>
                <a:latin typeface="Arimo"/>
              </a:rPr>
              <a:t>Receive and correctly understand messages send to us.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74903" y="3722439"/>
            <a:ext cx="6859721" cy="203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60"/>
              </a:lnSpc>
            </a:pPr>
            <a:r>
              <a:rPr lang="en-US" sz="6200">
                <a:solidFill>
                  <a:srgbClr val="DF5A49"/>
                </a:solidFill>
                <a:latin typeface="League Spartan"/>
              </a:rPr>
              <a:t>Components of Communication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4903" y="6002586"/>
            <a:ext cx="685972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00"/>
              </a:lnSpc>
            </a:pPr>
            <a:r>
              <a:rPr lang="en-US" sz="3000">
                <a:solidFill>
                  <a:srgbClr val="DF5A49"/>
                </a:solidFill>
                <a:latin typeface="Glacial Indifference Bold"/>
              </a:rPr>
              <a:t>3 Main Aspects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48881" y="1922145"/>
            <a:ext cx="9272169" cy="637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Components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Verbal </a:t>
            </a:r>
            <a:r>
              <a:rPr lang="en-US" sz="1200">
                <a:solidFill>
                  <a:srgbClr val="FAFAFA"/>
                </a:solidFill>
                <a:latin typeface="Arimo"/>
              </a:rPr>
              <a:t>messages - the words we choose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AFAFA"/>
                </a:solidFill>
                <a:latin typeface="Arimo"/>
              </a:rPr>
              <a:t>Paraverbal messages – how we say the words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AFAFA"/>
                </a:solidFill>
                <a:latin typeface="Arimo"/>
              </a:rPr>
              <a:t>Nonverbal messages – our body language</a:t>
            </a:r>
          </a:p>
          <a:p>
            <a:pPr>
              <a:lnSpc>
                <a:spcPts val="5040"/>
              </a:lnSpc>
            </a:pPr>
          </a:p>
          <a:p>
            <a:pPr>
              <a:lnSpc>
                <a:spcPts val="5040"/>
              </a:lnSpc>
            </a:pPr>
            <a:r>
              <a:rPr lang="en-US" sz="1200">
                <a:solidFill>
                  <a:srgbClr val="FAFAFA"/>
                </a:solidFill>
                <a:latin typeface="Arimo"/>
              </a:rPr>
              <a:t>These 3 components are used to: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AFAFA"/>
                </a:solidFill>
                <a:latin typeface="Arimo"/>
              </a:rPr>
              <a:t>Send clear, concise messages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AFAFA"/>
                </a:solidFill>
                <a:latin typeface="Arimo"/>
              </a:rPr>
              <a:t>Receive and correctly understand messages send to us.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5000"/>
          </a:blip>
          <a:srcRect l="0" t="9074" r="0" b="9074"/>
          <a:stretch>
            <a:fillRect/>
          </a:stretch>
        </p:blipFill>
        <p:spPr>
          <a:xfrm flipH="false" flipV="false" rot="0">
            <a:off x="429078" y="364895"/>
            <a:ext cx="17381843" cy="9489407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864454" y="864454"/>
            <a:ext cx="2369454" cy="1634923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5586789" y="1681915"/>
            <a:ext cx="11836758" cy="3151863"/>
            <a:chOff x="0" y="0"/>
            <a:chExt cx="15782344" cy="420248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452298"/>
              <a:ext cx="15782344" cy="2750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460"/>
                </a:lnSpc>
              </a:pPr>
              <a:r>
                <a:rPr lang="en-US" sz="4200">
                  <a:solidFill>
                    <a:srgbClr val="FFEEA5"/>
                  </a:solidFill>
                  <a:latin typeface="League Spartan"/>
                </a:rPr>
                <a:t>Effective verbal messages Are brief, succinct and organized Are free of jargon Do not create resistance in listener.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3957342" y="-28575"/>
              <a:ext cx="11825001" cy="760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680"/>
                </a:lnSpc>
              </a:pPr>
              <a:r>
                <a:rPr lang="en-US" sz="3600">
                  <a:solidFill>
                    <a:srgbClr val="FAFAFA"/>
                  </a:solidFill>
                  <a:latin typeface="Glacial Indifference Bold"/>
                </a:rPr>
                <a:t>S</a:t>
              </a:r>
              <a:r>
                <a:rPr lang="en-US" sz="3600">
                  <a:solidFill>
                    <a:srgbClr val="FAFAFA"/>
                  </a:solidFill>
                  <a:latin typeface="Glacial Indifference Bold"/>
                </a:rPr>
                <a:t>ending messages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4454" y="797779"/>
            <a:ext cx="14954142" cy="100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0"/>
              </a:lnSpc>
            </a:pPr>
            <a:r>
              <a:rPr lang="en-US" sz="6200">
                <a:solidFill>
                  <a:srgbClr val="FFFFFF"/>
                </a:solidFill>
                <a:latin typeface="League Spartan"/>
              </a:rPr>
              <a:t>Ve</a:t>
            </a:r>
            <a:r>
              <a:rPr lang="en-US" sz="6200">
                <a:solidFill>
                  <a:srgbClr val="FFFFFF"/>
                </a:solidFill>
                <a:latin typeface="League Spartan"/>
              </a:rPr>
              <a:t>rbal vs Written Communication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53592" y="2137410"/>
            <a:ext cx="3407861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Glacial Indifference Bold"/>
              </a:rPr>
              <a:t>Verbal - All Verbal</a:t>
            </a:r>
          </a:p>
          <a:p>
            <a:pPr algn="ctr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Glacial Indifference Bold"/>
              </a:rPr>
              <a:t>Advantages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40529" y="2137410"/>
            <a:ext cx="3887921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Glacial Indifference Bold"/>
              </a:rPr>
              <a:t>Verbal - Face to Face</a:t>
            </a:r>
          </a:p>
          <a:p>
            <a:pPr algn="ctr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Glacial Indifference Bold"/>
              </a:rPr>
              <a:t>Advantages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17529" y="2137410"/>
            <a:ext cx="2379161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Glacial Indifference Bold"/>
              </a:rPr>
              <a:t>Written</a:t>
            </a:r>
          </a:p>
          <a:p>
            <a:pPr algn="ctr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Glacial Indifference Bold"/>
              </a:rPr>
              <a:t>Advantages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8950" y="3297959"/>
            <a:ext cx="5523883" cy="2802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690880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Glacial Indifference"/>
              </a:rPr>
              <a:t>Rapid Delivery</a:t>
            </a:r>
          </a:p>
          <a:p>
            <a:pPr marL="690880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rimo"/>
              </a:rPr>
              <a:t>Flexible Delivery</a:t>
            </a:r>
          </a:p>
          <a:p>
            <a:pPr marL="690880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rimo"/>
              </a:rPr>
              <a:t>Delivered at time/place under control of sender</a:t>
            </a:r>
          </a:p>
          <a:p>
            <a:pPr algn="l" marL="690880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rimo"/>
              </a:rPr>
              <a:t>Allows immediate response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22548" y="3297959"/>
            <a:ext cx="5523883" cy="2802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848">
                <a:solidFill>
                  <a:srgbClr val="FFFFFF"/>
                </a:solidFill>
                <a:latin typeface="Arimo"/>
              </a:rPr>
              <a:t> More personal, so  better motivation </a:t>
            </a:r>
          </a:p>
          <a:p>
            <a:pPr algn="l" marL="690880" indent="-345440" lvl="1">
              <a:lnSpc>
                <a:spcPts val="4480"/>
              </a:lnSpc>
              <a:buFont typeface="Arial"/>
              <a:buChar char="•"/>
            </a:pPr>
            <a:r>
              <a:rPr lang="en-US" sz="848">
                <a:solidFill>
                  <a:srgbClr val="FFFFFF"/>
                </a:solidFill>
                <a:latin typeface="Arimo"/>
              </a:rPr>
              <a:t>Allows non-verbal signals to aid getting message across.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45168" y="3257319"/>
            <a:ext cx="5523883" cy="56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848">
                <a:solidFill>
                  <a:srgbClr val="FFFFFF"/>
                </a:solidFill>
                <a:latin typeface="Arimo"/>
              </a:rPr>
              <a:t> A record exists of the message </a:t>
            </a:r>
          </a:p>
          <a:p>
            <a:pPr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848">
                <a:solidFill>
                  <a:srgbClr val="FFFFFF"/>
                </a:solidFill>
                <a:latin typeface="Arimo"/>
              </a:rPr>
              <a:t>Allows receiver to repeat message until it is fully understood</a:t>
            </a:r>
          </a:p>
          <a:p>
            <a:pPr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Glacial Indifference"/>
              </a:rPr>
              <a:t>Good for complex or lengthy messages</a:t>
            </a:r>
          </a:p>
          <a:p>
            <a:pPr algn="l" marL="690880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Glacial Indifference"/>
              </a:rPr>
              <a:t>Allows receiver to digest message at own pace.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474903" y="3422650"/>
            <a:ext cx="6859721" cy="3441700"/>
            <a:chOff x="0" y="0"/>
            <a:chExt cx="9146294" cy="458893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9146294" cy="4046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060"/>
                </a:lnSpc>
              </a:pPr>
              <a:r>
                <a:rPr lang="en-US" sz="6200">
                  <a:solidFill>
                    <a:srgbClr val="DF5A49"/>
                  </a:solidFill>
                  <a:latin typeface="League Spartan"/>
                </a:rPr>
                <a:t>Verbal Communication</a:t>
              </a:r>
            </a:p>
            <a:p>
              <a:pPr algn="r">
                <a:lnSpc>
                  <a:spcPts val="8060"/>
                </a:lnSpc>
              </a:pPr>
              <a:r>
                <a:rPr lang="en-US" sz="6200">
                  <a:solidFill>
                    <a:srgbClr val="DF5A49"/>
                  </a:solidFill>
                  <a:latin typeface="League Spartan"/>
                </a:rPr>
                <a:t>Pointers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941233"/>
              <a:ext cx="9146294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00"/>
                </a:lnSpc>
              </a:pPr>
              <a:r>
                <a:rPr lang="en-US" sz="3000">
                  <a:solidFill>
                    <a:srgbClr val="DF5A49"/>
                  </a:solidFill>
                  <a:latin typeface="Glacial Indifference Bold"/>
                </a:rPr>
                <a:t>Key Points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148881" y="1282065"/>
            <a:ext cx="9272169" cy="7656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Make </a:t>
            </a:r>
            <a:r>
              <a:rPr lang="en-US" sz="1200">
                <a:solidFill>
                  <a:srgbClr val="FFFFFF"/>
                </a:solidFill>
                <a:latin typeface="Arimo"/>
              </a:rPr>
              <a:t>your message appropriate to the receiver. 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Use understandable language but not slang.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Be aware of how long you speak. As a general rule, try to express your message in a limited amount of time (no more than 15 seconds in a normal day-to-day conversation) and then switch to listening.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Focus on one topic at a time. 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Try to be positive, even when talking about negative situations.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74903" y="3866515"/>
            <a:ext cx="6859721" cy="203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60"/>
              </a:lnSpc>
            </a:pPr>
            <a:r>
              <a:rPr lang="en-US" sz="6200">
                <a:solidFill>
                  <a:srgbClr val="DF5A49"/>
                </a:solidFill>
                <a:latin typeface="League Spartan"/>
              </a:rPr>
              <a:t>Rules for Communication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4903" y="5858510"/>
            <a:ext cx="685972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00"/>
              </a:lnSpc>
            </a:pPr>
            <a:r>
              <a:rPr lang="en-US" sz="3000">
                <a:solidFill>
                  <a:srgbClr val="DF5A49"/>
                </a:solidFill>
                <a:latin typeface="Glacial Indifference Bold"/>
              </a:rPr>
              <a:t>Key Points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48881" y="962025"/>
            <a:ext cx="9272169" cy="829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A. B. C</a:t>
            </a:r>
          </a:p>
          <a:p>
            <a:pPr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Accuracy</a:t>
            </a:r>
          </a:p>
          <a:p>
            <a:pPr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Brevity</a:t>
            </a:r>
          </a:p>
          <a:p>
            <a:pPr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Clarity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K. I. S. S</a:t>
            </a:r>
          </a:p>
          <a:p>
            <a:pPr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Keep</a:t>
            </a:r>
          </a:p>
          <a:p>
            <a:pPr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It</a:t>
            </a:r>
          </a:p>
          <a:p>
            <a:pPr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Short</a:t>
            </a:r>
          </a:p>
          <a:p>
            <a:pPr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Simple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3 Stage Information Delivery</a:t>
            </a:r>
          </a:p>
          <a:p>
            <a:pPr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Introduction</a:t>
            </a:r>
          </a:p>
          <a:p>
            <a:pPr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Main Content of Body</a:t>
            </a:r>
          </a:p>
          <a:p>
            <a:pPr algn="l"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Summary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74903" y="2613025"/>
            <a:ext cx="6859721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60"/>
              </a:lnSpc>
            </a:pPr>
            <a:r>
              <a:rPr lang="en-US" sz="6200">
                <a:solidFill>
                  <a:srgbClr val="DF5A49"/>
                </a:solidFill>
                <a:latin typeface="League Spartan"/>
              </a:rPr>
              <a:t>Ways to Encourage</a:t>
            </a:r>
          </a:p>
          <a:p>
            <a:pPr algn="r">
              <a:lnSpc>
                <a:spcPts val="8060"/>
              </a:lnSpc>
            </a:pPr>
            <a:r>
              <a:rPr lang="en-US" sz="6200">
                <a:solidFill>
                  <a:srgbClr val="DF5A49"/>
                </a:solidFill>
                <a:latin typeface="League Spartan"/>
              </a:rPr>
              <a:t>C</a:t>
            </a:r>
            <a:r>
              <a:rPr lang="en-US" sz="6200">
                <a:solidFill>
                  <a:srgbClr val="DF5A49"/>
                </a:solidFill>
                <a:latin typeface="League Spartan"/>
              </a:rPr>
              <a:t>ommunication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89160" y="5626100"/>
            <a:ext cx="6859721" cy="198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00"/>
              </a:lnSpc>
            </a:pPr>
            <a:r>
              <a:rPr lang="en-US" sz="3000">
                <a:solidFill>
                  <a:srgbClr val="DF5A49"/>
                </a:solidFill>
                <a:latin typeface="Glacial Indifference Bold"/>
              </a:rPr>
              <a:t>Effective ways to elicit information:</a:t>
            </a:r>
          </a:p>
          <a:p>
            <a:pPr algn="just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DF5A49"/>
                </a:solidFill>
                <a:latin typeface="Glacial Indifference Bold"/>
              </a:rPr>
              <a:t>Asking effective questions</a:t>
            </a:r>
          </a:p>
          <a:p>
            <a:pPr algn="just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DF5A49"/>
                </a:solidFill>
                <a:latin typeface="Glacial Indifference Bold"/>
              </a:rPr>
              <a:t>Intently Listening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01630" y="1696972"/>
            <a:ext cx="7529070" cy="6893055"/>
            <a:chOff x="0" y="0"/>
            <a:chExt cx="10038760" cy="9190741"/>
          </a:xfrm>
        </p:grpSpPr>
        <p:grpSp>
          <p:nvGrpSpPr>
            <p:cNvPr name="Group 7" id="7"/>
            <p:cNvGrpSpPr>
              <a:grpSpLocks noChangeAspect="true"/>
            </p:cNvGrpSpPr>
            <p:nvPr/>
          </p:nvGrpSpPr>
          <p:grpSpPr>
            <a:xfrm rot="0">
              <a:off x="0" y="0"/>
              <a:ext cx="5578520" cy="5578520"/>
              <a:chOff x="0" y="0"/>
              <a:chExt cx="6355080" cy="6355080"/>
            </a:xfrm>
          </p:grpSpPr>
          <p:sp>
            <p:nvSpPr>
              <p:cNvPr name="Freeform 8" id="8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EEA5"/>
              </a:solidFill>
            </p:spPr>
          </p:sp>
        </p:grpSp>
        <p:grpSp>
          <p:nvGrpSpPr>
            <p:cNvPr name="Group 9" id="9"/>
            <p:cNvGrpSpPr>
              <a:grpSpLocks noChangeAspect="true"/>
            </p:cNvGrpSpPr>
            <p:nvPr/>
          </p:nvGrpSpPr>
          <p:grpSpPr>
            <a:xfrm rot="0">
              <a:off x="4460240" y="92120"/>
              <a:ext cx="5578520" cy="5578520"/>
              <a:chOff x="0" y="0"/>
              <a:chExt cx="6355080" cy="6355080"/>
            </a:xfrm>
          </p:grpSpPr>
          <p:sp>
            <p:nvSpPr>
              <p:cNvPr name="Freeform 10" id="10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EEA5"/>
              </a:solidFill>
            </p:spPr>
          </p:sp>
        </p:grpSp>
        <p:grpSp>
          <p:nvGrpSpPr>
            <p:cNvPr name="Group 11" id="11"/>
            <p:cNvGrpSpPr>
              <a:grpSpLocks noChangeAspect="true"/>
            </p:cNvGrpSpPr>
            <p:nvPr/>
          </p:nvGrpSpPr>
          <p:grpSpPr>
            <a:xfrm rot="0">
              <a:off x="2245360" y="3612220"/>
              <a:ext cx="5578520" cy="5578520"/>
              <a:chOff x="0" y="0"/>
              <a:chExt cx="6355080" cy="6355080"/>
            </a:xfrm>
          </p:grpSpPr>
          <p:sp>
            <p:nvSpPr>
              <p:cNvPr name="Freeform 12" id="12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EEA5"/>
              </a:solidFill>
            </p:spPr>
          </p:sp>
        </p:grpSp>
      </p:grpSp>
      <p:sp>
        <p:nvSpPr>
          <p:cNvPr name="TextBox 13" id="13"/>
          <p:cNvSpPr txBox="true"/>
          <p:nvPr/>
        </p:nvSpPr>
        <p:spPr>
          <a:xfrm rot="0">
            <a:off x="10799195" y="3200038"/>
            <a:ext cx="2466970" cy="590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32"/>
              </a:lnSpc>
            </a:pPr>
            <a:r>
              <a:rPr lang="en-US" sz="3563">
                <a:solidFill>
                  <a:srgbClr val="FFFFFF"/>
                </a:solidFill>
                <a:latin typeface="Glacial Indifference Bold"/>
              </a:rPr>
              <a:t>Oral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32680" y="6616612"/>
            <a:ext cx="2466970" cy="590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32"/>
              </a:lnSpc>
            </a:pPr>
            <a:r>
              <a:rPr lang="en-US" sz="3563">
                <a:solidFill>
                  <a:srgbClr val="FFFFFF"/>
                </a:solidFill>
                <a:latin typeface="Glacial Indifference Bold"/>
              </a:rPr>
              <a:t>Non-Verbal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403455" y="3200038"/>
            <a:ext cx="2466970" cy="590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32"/>
              </a:lnSpc>
            </a:pPr>
            <a:r>
              <a:rPr lang="en-US" sz="3563">
                <a:solidFill>
                  <a:srgbClr val="FFFFFF"/>
                </a:solidFill>
                <a:latin typeface="Glacial Indifference Bold"/>
              </a:rPr>
              <a:t>Written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59529" y="4286250"/>
            <a:ext cx="6768941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FFFFFF"/>
                </a:solidFill>
                <a:latin typeface="League Spartan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DAECrcZiMYM</dc:identifier>
  <dcterms:modified xsi:type="dcterms:W3CDTF">2011-08-01T06:04:30Z</dcterms:modified>
  <cp:revision>1</cp:revision>
  <dc:title>Business Coms - I</dc:title>
</cp:coreProperties>
</file>