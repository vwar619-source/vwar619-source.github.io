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  <p:sldId id="270" r:id="rId29"/>
    <p:sldId id="271" r:id="rId30"/>
    <p:sldId id="272" r:id="rId31"/>
  </p:sldIdLst>
  <p:sldSz cx="18288000" cy="10287000"/>
  <p:notesSz cx="6858000" cy="9144000"/>
  <p:embeddedFontLst>
    <p:embeddedFont>
      <p:font typeface="Glacial Indifference" charset="1" panose="00000000000000000000"/>
      <p:regular r:id="rId6"/>
    </p:embeddedFont>
    <p:embeddedFont>
      <p:font typeface="Glacial Indifference Bold" charset="1" panose="00000800000000000000"/>
      <p:regular r:id="rId7"/>
    </p:embeddedFont>
    <p:embeddedFont>
      <p:font typeface="Glacial Indifference Italics" charset="1" panose="00000000000000000000"/>
      <p:regular r:id="rId8"/>
    </p:embeddedFont>
    <p:embeddedFont>
      <p:font typeface="Glacial Indifference Bold Italics" charset="1" panose="00000800000000000000"/>
      <p:regular r:id="rId9"/>
    </p:embeddedFont>
    <p:embeddedFont>
      <p:font typeface="Arimo" charset="1" panose="020B0604020202020204"/>
      <p:regular r:id="rId10"/>
    </p:embeddedFont>
    <p:embeddedFont>
      <p:font typeface="Arimo Bold" charset="1" panose="020B0704020202020204"/>
      <p:regular r:id="rId11"/>
    </p:embeddedFont>
    <p:embeddedFont>
      <p:font typeface="Arimo Italics" charset="1" panose="020B0604020202090204"/>
      <p:regular r:id="rId12"/>
    </p:embeddedFont>
    <p:embeddedFont>
      <p:font typeface="Arimo Bold Italics" charset="1" panose="020B0704020202090204"/>
      <p:regular r:id="rId13"/>
    </p:embeddedFont>
    <p:embeddedFont>
      <p:font typeface="League Spartan" charset="1" panose="000008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slides/slide1.xml" Type="http://schemas.openxmlformats.org/officeDocument/2006/relationships/slide"/><Relationship Id="rId16" Target="slides/slide2.xml" Type="http://schemas.openxmlformats.org/officeDocument/2006/relationships/slide"/><Relationship Id="rId17" Target="slides/slide3.xml" Type="http://schemas.openxmlformats.org/officeDocument/2006/relationships/slide"/><Relationship Id="rId18" Target="slides/slide4.xml" Type="http://schemas.openxmlformats.org/officeDocument/2006/relationships/slide"/><Relationship Id="rId19" Target="slides/slide5.xml" Type="http://schemas.openxmlformats.org/officeDocument/2006/relationships/slide"/><Relationship Id="rId2" Target="presProps.xml" Type="http://schemas.openxmlformats.org/officeDocument/2006/relationships/presProps"/><Relationship Id="rId20" Target="slides/slide6.xml" Type="http://schemas.openxmlformats.org/officeDocument/2006/relationships/slide"/><Relationship Id="rId21" Target="slides/slide7.xml" Type="http://schemas.openxmlformats.org/officeDocument/2006/relationships/slide"/><Relationship Id="rId22" Target="slides/slide8.xml" Type="http://schemas.openxmlformats.org/officeDocument/2006/relationships/slide"/><Relationship Id="rId23" Target="slides/slide9.xml" Type="http://schemas.openxmlformats.org/officeDocument/2006/relationships/slide"/><Relationship Id="rId24" Target="slides/slide10.xml" Type="http://schemas.openxmlformats.org/officeDocument/2006/relationships/slide"/><Relationship Id="rId25" Target="slides/slide11.xml" Type="http://schemas.openxmlformats.org/officeDocument/2006/relationships/slide"/><Relationship Id="rId26" Target="slides/slide12.xml" Type="http://schemas.openxmlformats.org/officeDocument/2006/relationships/slide"/><Relationship Id="rId27" Target="slides/slide13.xml" Type="http://schemas.openxmlformats.org/officeDocument/2006/relationships/slide"/><Relationship Id="rId28" Target="slides/slide14.xml" Type="http://schemas.openxmlformats.org/officeDocument/2006/relationships/slide"/><Relationship Id="rId29" Target="slides/slide15.xml" Type="http://schemas.openxmlformats.org/officeDocument/2006/relationships/slide"/><Relationship Id="rId3" Target="viewProps.xml" Type="http://schemas.openxmlformats.org/officeDocument/2006/relationships/viewProps"/><Relationship Id="rId30" Target="slides/slide16.xml" Type="http://schemas.openxmlformats.org/officeDocument/2006/relationships/slide"/><Relationship Id="rId31" Target="slides/slide17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fonts/font6.fntdata" Type="http://schemas.openxmlformats.org/officeDocument/2006/relationships/font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5A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028700" y="1028700"/>
            <a:ext cx="3301263" cy="2346898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29789" t="0" r="25375" b="0"/>
          <a:stretch>
            <a:fillRect/>
          </a:stretch>
        </p:blipFill>
        <p:spPr>
          <a:xfrm flipH="false" flipV="false" rot="0">
            <a:off x="10303002" y="-1428076"/>
            <a:ext cx="8839105" cy="13143152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 rot="0">
            <a:off x="864454" y="4802156"/>
            <a:ext cx="8839935" cy="3818751"/>
            <a:chOff x="0" y="0"/>
            <a:chExt cx="11786581" cy="5091669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66675"/>
              <a:ext cx="11786581" cy="41645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320"/>
                </a:lnSpc>
              </a:pPr>
              <a:r>
                <a:rPr lang="en-US" sz="6400">
                  <a:solidFill>
                    <a:srgbClr val="FFFFFF"/>
                  </a:solidFill>
                  <a:latin typeface="League Spartan"/>
                </a:rPr>
                <a:t>Bus</a:t>
              </a:r>
              <a:r>
                <a:rPr lang="en-US" sz="6400">
                  <a:solidFill>
                    <a:srgbClr val="FFFFFF"/>
                  </a:solidFill>
                  <a:latin typeface="League Spartan"/>
                </a:rPr>
                <a:t>iness</a:t>
              </a:r>
            </a:p>
            <a:p>
              <a:pPr algn="l">
                <a:lnSpc>
                  <a:spcPts val="8320"/>
                </a:lnSpc>
              </a:pPr>
              <a:r>
                <a:rPr lang="en-US" sz="6400">
                  <a:solidFill>
                    <a:srgbClr val="FFFFFF"/>
                  </a:solidFill>
                  <a:latin typeface="League Spartan"/>
                </a:rPr>
                <a:t>Communication – Session C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4415394"/>
              <a:ext cx="11171848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>
                  <a:solidFill>
                    <a:srgbClr val="FAFAFA"/>
                  </a:solidFill>
                  <a:latin typeface="Glacial Indifference"/>
                </a:rPr>
                <a:t>Diff</a:t>
              </a:r>
              <a:r>
                <a:rPr lang="en-US" sz="3000">
                  <a:solidFill>
                    <a:srgbClr val="FAFAFA"/>
                  </a:solidFill>
                  <a:latin typeface="Glacial Indifference"/>
                </a:rPr>
                <a:t>erent Communication Etiquettes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864454" y="9103717"/>
            <a:ext cx="9449297" cy="271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40"/>
              </a:lnSpc>
            </a:pPr>
            <a:r>
              <a:rPr lang="en-US" sz="1528" spc="305">
                <a:solidFill>
                  <a:srgbClr val="FAFAFA"/>
                </a:solidFill>
                <a:latin typeface="Glacial Indifference Bold"/>
              </a:rPr>
              <a:t>COMPANY NAME | YEAR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DF5A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-614816" y="-584974"/>
            <a:ext cx="8277495" cy="11456947"/>
          </a:xfrm>
          <a:prstGeom prst="rect">
            <a:avLst/>
          </a:prstGeom>
          <a:solidFill>
            <a:srgbClr val="FFFFFF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612063" y="4278699"/>
            <a:ext cx="6448241" cy="1729601"/>
            <a:chOff x="0" y="0"/>
            <a:chExt cx="8597654" cy="2306135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66675"/>
              <a:ext cx="8597654" cy="13790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8450"/>
                </a:lnSpc>
              </a:pPr>
              <a:r>
                <a:rPr lang="en-US" sz="6500">
                  <a:solidFill>
                    <a:srgbClr val="DF5A49"/>
                  </a:solidFill>
                  <a:latin typeface="League Spartan"/>
                </a:rPr>
                <a:t>Objectives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658435"/>
              <a:ext cx="8597654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900"/>
                </a:lnSpc>
              </a:pPr>
              <a:r>
                <a:rPr lang="en-US" sz="3000">
                  <a:solidFill>
                    <a:srgbClr val="DF5A49"/>
                  </a:solidFill>
                  <a:latin typeface="Glacial Indifference Bold"/>
                </a:rPr>
                <a:t>Key Points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151377" y="3402330"/>
            <a:ext cx="9272169" cy="3387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1036320" indent="-518160" lvl="1">
              <a:lnSpc>
                <a:spcPts val="6719"/>
              </a:lnSpc>
              <a:buFont typeface="Arial"/>
              <a:buChar char="•"/>
            </a:pPr>
            <a:r>
              <a:rPr lang="en-US" sz="4800">
                <a:solidFill>
                  <a:srgbClr val="FAFAFA"/>
                </a:solidFill>
                <a:latin typeface="Glacial Indifference"/>
              </a:rPr>
              <a:t>Email Etiquettes</a:t>
            </a:r>
          </a:p>
          <a:p>
            <a:pPr marL="1036320" indent="-518160" lvl="1">
              <a:lnSpc>
                <a:spcPts val="6719"/>
              </a:lnSpc>
              <a:buFont typeface="Arial"/>
              <a:buChar char="•"/>
            </a:pPr>
            <a:r>
              <a:rPr lang="en-US" sz="4800">
                <a:solidFill>
                  <a:srgbClr val="FAFAFA"/>
                </a:solidFill>
                <a:latin typeface="Glacial Indifference"/>
              </a:rPr>
              <a:t>Effective Meetings</a:t>
            </a:r>
          </a:p>
          <a:p>
            <a:pPr marL="1036320" indent="-518160" lvl="1">
              <a:lnSpc>
                <a:spcPts val="6719"/>
              </a:lnSpc>
              <a:buFont typeface="Arial"/>
              <a:buChar char="•"/>
            </a:pPr>
            <a:r>
              <a:rPr lang="en-US" sz="4800">
                <a:solidFill>
                  <a:srgbClr val="FAFAFA"/>
                </a:solidFill>
                <a:latin typeface="Glacial Indifference"/>
              </a:rPr>
              <a:t>P.I.T.C.H</a:t>
            </a:r>
          </a:p>
          <a:p>
            <a:pPr algn="l" marL="1036320" indent="-518160" lvl="1">
              <a:lnSpc>
                <a:spcPts val="6719"/>
              </a:lnSpc>
              <a:buFont typeface="Arial"/>
              <a:buChar char="•"/>
            </a:pPr>
            <a:r>
              <a:rPr lang="en-US" sz="4800">
                <a:solidFill>
                  <a:srgbClr val="FAFAFA"/>
                </a:solidFill>
                <a:latin typeface="Glacial Indifference"/>
              </a:rPr>
              <a:t>Telephone Etiquettes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341000" y="9582499"/>
            <a:ext cx="927216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spc="300">
                <a:solidFill>
                  <a:srgbClr val="FAFAFA"/>
                </a:solidFill>
                <a:latin typeface="Glacial Indifference Bold"/>
              </a:rPr>
              <a:t>COMPANY NAME | YEAR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5A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4090568" y="4487675"/>
            <a:ext cx="1311650" cy="131165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12638509" y="4512187"/>
            <a:ext cx="1287138" cy="1287138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864454" y="816829"/>
            <a:ext cx="10107822" cy="898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80"/>
              </a:lnSpc>
            </a:pPr>
            <a:r>
              <a:rPr lang="en-US" sz="5600">
                <a:solidFill>
                  <a:srgbClr val="FFFFFF"/>
                </a:solidFill>
                <a:latin typeface="League Spartan"/>
              </a:rPr>
              <a:t>Your Accounts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64454" y="1965405"/>
            <a:ext cx="9387432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FAFAFA"/>
                </a:solidFill>
                <a:latin typeface="Glacial Indifference Bold"/>
              </a:rPr>
              <a:t>Seperate Personal &amp; Professional Accounts always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341000" y="9582499"/>
            <a:ext cx="927216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spc="300">
                <a:solidFill>
                  <a:srgbClr val="FAFAFA"/>
                </a:solidFill>
                <a:latin typeface="Glacial Indifference Bold"/>
              </a:rPr>
              <a:t>COMPANY NAME | YEAR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69818" y="6145432"/>
            <a:ext cx="5548287" cy="650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24"/>
              </a:lnSpc>
            </a:pPr>
            <a:r>
              <a:rPr lang="en-US" sz="4018">
                <a:solidFill>
                  <a:srgbClr val="FAFAFA"/>
                </a:solidFill>
                <a:latin typeface="Glacial Indifference Bold"/>
              </a:rPr>
              <a:t>cutiepie123@gmail.com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748480" y="6126382"/>
            <a:ext cx="7067196" cy="661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</a:pPr>
            <a:r>
              <a:rPr lang="en-US" sz="4000">
                <a:solidFill>
                  <a:srgbClr val="FAFAFA"/>
                </a:solidFill>
                <a:latin typeface="Glacial Indifference Bold"/>
              </a:rPr>
              <a:t>firstname.lastnam@gmail.com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DF5A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-614816" y="-584974"/>
            <a:ext cx="8277495" cy="11456947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551672" y="4095115"/>
            <a:ext cx="6859721" cy="2030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060"/>
              </a:lnSpc>
            </a:pPr>
            <a:r>
              <a:rPr lang="en-US" sz="6200">
                <a:solidFill>
                  <a:srgbClr val="DF5A49"/>
                </a:solidFill>
                <a:latin typeface="League Spartan"/>
              </a:rPr>
              <a:t>Initial Email Etiquette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151377" y="3202305"/>
            <a:ext cx="9272169" cy="3815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AFAFA"/>
                </a:solidFill>
                <a:latin typeface="Glacial Indifference"/>
              </a:rPr>
              <a:t>Subject </a:t>
            </a:r>
            <a:r>
              <a:rPr lang="en-US" sz="1200">
                <a:solidFill>
                  <a:srgbClr val="FAFAFA"/>
                </a:solidFill>
                <a:latin typeface="Arimo"/>
              </a:rPr>
              <a:t>Line – Short and Simple</a:t>
            </a:r>
          </a:p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1200">
                <a:solidFill>
                  <a:srgbClr val="FAFAFA"/>
                </a:solidFill>
                <a:latin typeface="Arimo"/>
              </a:rPr>
              <a:t>Greeting Mr., Dr., Mrs., Dear,</a:t>
            </a:r>
          </a:p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1200">
                <a:solidFill>
                  <a:srgbClr val="FAFAFA"/>
                </a:solidFill>
                <a:latin typeface="Arimo"/>
              </a:rPr>
              <a:t>Introduction - Brief and to the point</a:t>
            </a:r>
          </a:p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1200">
                <a:solidFill>
                  <a:srgbClr val="FAFAFA"/>
                </a:solidFill>
                <a:latin typeface="Arimo"/>
              </a:rPr>
              <a:t>Body – Explain the reason for email and DDL / Follow-Up date.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1200">
                <a:solidFill>
                  <a:srgbClr val="FAFAFA"/>
                </a:solidFill>
                <a:latin typeface="Arimo"/>
              </a:rPr>
              <a:t>Closing - Thank them for their time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148881" y="9198654"/>
            <a:ext cx="927216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spc="300">
                <a:solidFill>
                  <a:srgbClr val="FAFAFA"/>
                </a:solidFill>
                <a:latin typeface="Glacial Indifference Bold"/>
              </a:rPr>
              <a:t>COMPANY NAME | YEAR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DF5A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-614816" y="-584974"/>
            <a:ext cx="8277495" cy="11456947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474903" y="4095115"/>
            <a:ext cx="6859721" cy="2030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060"/>
              </a:lnSpc>
            </a:pPr>
            <a:r>
              <a:rPr lang="en-US" sz="6200">
                <a:solidFill>
                  <a:srgbClr val="DF5A49"/>
                </a:solidFill>
                <a:latin typeface="League Spartan"/>
              </a:rPr>
              <a:t>Follow – Up Email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816215" y="3842385"/>
            <a:ext cx="9604835" cy="2535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AFAFA"/>
                </a:solidFill>
                <a:latin typeface="Glacial Indifference"/>
              </a:rPr>
              <a:t>Greeting – Thank you for return</a:t>
            </a:r>
            <a:r>
              <a:rPr lang="en-US" sz="3600">
                <a:solidFill>
                  <a:srgbClr val="FAFAFA"/>
                </a:solidFill>
                <a:latin typeface="Glacial Indifference"/>
              </a:rPr>
              <a:t>ing your email</a:t>
            </a:r>
          </a:p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AFAFA"/>
                </a:solidFill>
                <a:latin typeface="Glacial Indifference"/>
              </a:rPr>
              <a:t>Addressee </a:t>
            </a:r>
            <a:r>
              <a:rPr lang="en-US" sz="3600">
                <a:solidFill>
                  <a:srgbClr val="FAFAFA"/>
                </a:solidFill>
                <a:latin typeface="Glacial Indifference"/>
              </a:rPr>
              <a:t>– R</a:t>
            </a:r>
            <a:r>
              <a:rPr lang="en-US" sz="3600">
                <a:solidFill>
                  <a:srgbClr val="FAFAFA"/>
                </a:solidFill>
                <a:latin typeface="Glacial Indifference"/>
              </a:rPr>
              <a:t>espond to them as the signed the response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AFAFA"/>
                </a:solidFill>
                <a:latin typeface="Glacial Indifference"/>
              </a:rPr>
              <a:t>Closi</a:t>
            </a:r>
            <a:r>
              <a:rPr lang="en-US" sz="3600">
                <a:solidFill>
                  <a:srgbClr val="FAFAFA"/>
                </a:solidFill>
                <a:latin typeface="Glacial Indifference"/>
              </a:rPr>
              <a:t>ng </a:t>
            </a:r>
            <a:r>
              <a:rPr lang="en-US" sz="3600">
                <a:solidFill>
                  <a:srgbClr val="FAFAFA"/>
                </a:solidFill>
                <a:latin typeface="Glacial Indifference"/>
              </a:rPr>
              <a:t>– Thank them again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DF5A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-614816" y="-584974"/>
            <a:ext cx="8277495" cy="11456947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526083" y="3584575"/>
            <a:ext cx="6859721" cy="305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060"/>
              </a:lnSpc>
            </a:pPr>
            <a:r>
              <a:rPr lang="en-US" sz="6200">
                <a:solidFill>
                  <a:srgbClr val="DF5A49"/>
                </a:solidFill>
                <a:latin typeface="League Spartan"/>
              </a:rPr>
              <a:t> </a:t>
            </a:r>
          </a:p>
          <a:p>
            <a:pPr algn="r">
              <a:lnSpc>
                <a:spcPts val="8060"/>
              </a:lnSpc>
            </a:pPr>
            <a:r>
              <a:rPr lang="en-US" sz="6200">
                <a:solidFill>
                  <a:srgbClr val="DF5A49"/>
                </a:solidFill>
                <a:latin typeface="League Spartan"/>
              </a:rPr>
              <a:t>Th</a:t>
            </a:r>
            <a:r>
              <a:rPr lang="en-US" sz="6200">
                <a:solidFill>
                  <a:srgbClr val="DF5A49"/>
                </a:solidFill>
                <a:latin typeface="League Spartan"/>
              </a:rPr>
              <a:t>ink before you Click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148881" y="2562225"/>
            <a:ext cx="9630425" cy="509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AFAFA"/>
                </a:solidFill>
                <a:latin typeface="Glacial Indifference"/>
              </a:rPr>
              <a:t>Don’t automatically reply to all</a:t>
            </a:r>
          </a:p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AFAFA"/>
                </a:solidFill>
                <a:latin typeface="Glacial Indifference"/>
              </a:rPr>
              <a:t>Always take a look at the Distribution</a:t>
            </a:r>
          </a:p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AFAFA"/>
                </a:solidFill>
                <a:latin typeface="Glacial Indifference"/>
              </a:rPr>
              <a:t>List – is this email nec</a:t>
            </a:r>
            <a:r>
              <a:rPr lang="en-US" sz="3600">
                <a:solidFill>
                  <a:srgbClr val="FAFAFA"/>
                </a:solidFill>
                <a:latin typeface="Glacial Indifference"/>
              </a:rPr>
              <a:t>essary for all recipients.</a:t>
            </a:r>
          </a:p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AFAFA"/>
                </a:solidFill>
                <a:latin typeface="Glacial Indifference"/>
              </a:rPr>
              <a:t>Use the To: and CC: addresses appropriately.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AFAFA"/>
                </a:solidFill>
                <a:latin typeface="Glacial Indifference"/>
              </a:rPr>
              <a:t>Once the email discussion goes beyond 2-3 replies anyway, it is time to pick up the phone.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148881" y="9198654"/>
            <a:ext cx="927216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spc="300">
                <a:solidFill>
                  <a:srgbClr val="FAFAFA"/>
                </a:solidFill>
                <a:latin typeface="Glacial Indifference Bold"/>
              </a:rPr>
              <a:t>COMPANY NAME | YEAR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DF5A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-614816" y="-584974"/>
            <a:ext cx="8277495" cy="11456947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526083" y="4095115"/>
            <a:ext cx="6859721" cy="2030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060"/>
              </a:lnSpc>
            </a:pPr>
            <a:r>
              <a:rPr lang="en-US" sz="6200">
                <a:solidFill>
                  <a:srgbClr val="DF5A49"/>
                </a:solidFill>
                <a:latin typeface="League Spartan"/>
              </a:rPr>
              <a:t>General Etiquette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148881" y="2242185"/>
            <a:ext cx="9272169" cy="5735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Glacial Indifference"/>
              </a:rPr>
              <a:t>Standardize Signature</a:t>
            </a:r>
          </a:p>
          <a:p>
            <a:pPr marL="1554480" indent="-518160" lvl="2">
              <a:lnSpc>
                <a:spcPts val="5040"/>
              </a:lnSpc>
              <a:buFont typeface="Arial"/>
              <a:buChar char="⚬"/>
            </a:pPr>
            <a:r>
              <a:rPr lang="en-US" sz="1200">
                <a:solidFill>
                  <a:srgbClr val="FFFFFF"/>
                </a:solidFill>
                <a:latin typeface="Arimo"/>
              </a:rPr>
              <a:t>By email settings</a:t>
            </a:r>
          </a:p>
          <a:p>
            <a:pPr marL="1554480" indent="-518160" lvl="2">
              <a:lnSpc>
                <a:spcPts val="5040"/>
              </a:lnSpc>
              <a:buFont typeface="Arial"/>
              <a:buChar char="⚬"/>
            </a:pPr>
            <a:r>
              <a:rPr lang="en-US" sz="3600">
                <a:solidFill>
                  <a:srgbClr val="FFFFFF"/>
                </a:solidFill>
                <a:latin typeface="Glacial Indifference"/>
              </a:rPr>
              <a:t>W</a:t>
            </a:r>
            <a:r>
              <a:rPr lang="en-US" sz="1200">
                <a:solidFill>
                  <a:srgbClr val="FFFFFF"/>
                </a:solidFill>
                <a:latin typeface="Arimo"/>
              </a:rPr>
              <a:t>ise-stamp</a:t>
            </a:r>
          </a:p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1200">
                <a:solidFill>
                  <a:srgbClr val="FFFFFF"/>
                </a:solidFill>
                <a:latin typeface="Arimo"/>
              </a:rPr>
              <a:t>Do not use contractions (ex. Don’t, can’t)</a:t>
            </a:r>
          </a:p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1200">
                <a:solidFill>
                  <a:srgbClr val="FFFFFF"/>
                </a:solidFill>
                <a:latin typeface="Arimo"/>
              </a:rPr>
              <a:t>Be more professional than them to be on safe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1200">
                <a:solidFill>
                  <a:srgbClr val="FFFFFF"/>
                </a:solidFill>
                <a:latin typeface="Arimo"/>
              </a:rPr>
              <a:t>Use standard font throughout the message content. Avoid colored fonts in a professional email.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148881" y="9198654"/>
            <a:ext cx="927216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spc="300">
                <a:solidFill>
                  <a:srgbClr val="FAFAFA"/>
                </a:solidFill>
                <a:latin typeface="Glacial Indifference Bold"/>
              </a:rPr>
              <a:t>COMPANY NAME | YEAR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DF5A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-614816" y="-584974"/>
            <a:ext cx="8277495" cy="11456947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526083" y="4095115"/>
            <a:ext cx="6859721" cy="2030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060"/>
              </a:lnSpc>
            </a:pPr>
            <a:r>
              <a:rPr lang="en-US" sz="6200">
                <a:solidFill>
                  <a:srgbClr val="DF5A49"/>
                </a:solidFill>
                <a:latin typeface="League Spartan"/>
              </a:rPr>
              <a:t>General Etiquette(contd.)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148881" y="2242185"/>
            <a:ext cx="9272169" cy="5735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Glacial Indifference"/>
              </a:rPr>
              <a:t>Be ver</a:t>
            </a:r>
            <a:r>
              <a:rPr lang="en-US" sz="1200">
                <a:solidFill>
                  <a:srgbClr val="FFFFFF"/>
                </a:solidFill>
                <a:latin typeface="Arimo"/>
              </a:rPr>
              <a:t>y specific with the use of  bold, italic or underline font style</a:t>
            </a:r>
          </a:p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Glacial Indifference"/>
              </a:rPr>
              <a:t>K</a:t>
            </a:r>
            <a:r>
              <a:rPr lang="en-US" sz="1200">
                <a:solidFill>
                  <a:srgbClr val="FFFFFF"/>
                </a:solidFill>
                <a:latin typeface="Arimo"/>
              </a:rPr>
              <a:t>eep the size of the font visible and constant</a:t>
            </a:r>
          </a:p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1200">
                <a:solidFill>
                  <a:srgbClr val="FFFFFF"/>
                </a:solidFill>
                <a:latin typeface="Arimo"/>
              </a:rPr>
              <a:t>Paragraph and line spacing should be legitimate and visually appealing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1200">
                <a:solidFill>
                  <a:srgbClr val="FFFFFF"/>
                </a:solidFill>
                <a:latin typeface="Arimo"/>
              </a:rPr>
              <a:t>Avoid short forms or slang (e.g. ‘u’ instead of ‘you’, ‘y’ instead of ‘why’, ‘r’ instead of ‘are’, etc.)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148881" y="9198654"/>
            <a:ext cx="927216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spc="300">
                <a:solidFill>
                  <a:srgbClr val="FAFAFA"/>
                </a:solidFill>
                <a:latin typeface="Glacial Indifference Bold"/>
              </a:rPr>
              <a:t>COMPANY NAME | YEAR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DF5A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-614816" y="-584974"/>
            <a:ext cx="8277495" cy="11456947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474903" y="3722439"/>
            <a:ext cx="6859721" cy="2030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060"/>
              </a:lnSpc>
            </a:pPr>
            <a:r>
              <a:rPr lang="en-US" sz="6200">
                <a:solidFill>
                  <a:srgbClr val="DF5A49"/>
                </a:solidFill>
                <a:latin typeface="League Spartan"/>
              </a:rPr>
              <a:t>Why do we have Meetings?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148881" y="9198654"/>
            <a:ext cx="927216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spc="300">
                <a:solidFill>
                  <a:srgbClr val="FAFAFA"/>
                </a:solidFill>
                <a:latin typeface="Glacial Indifference Bold"/>
              </a:rPr>
              <a:t>COMPANY NAME | YEAR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148881" y="2882265"/>
            <a:ext cx="9272169" cy="445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Glacial Indifference"/>
              </a:rPr>
              <a:t>Brainstorm</a:t>
            </a:r>
          </a:p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Glacial Indifference"/>
              </a:rPr>
              <a:t>Planning</a:t>
            </a:r>
          </a:p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Glacial Indifference"/>
              </a:rPr>
              <a:t>Collaboration</a:t>
            </a:r>
          </a:p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Glacial Indifference"/>
              </a:rPr>
              <a:t>Tracking</a:t>
            </a:r>
          </a:p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Glacial Indifference"/>
              </a:rPr>
              <a:t>Revision and Review</a:t>
            </a:r>
          </a:p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Glacial Indifference"/>
              </a:rPr>
              <a:t>Performance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Glacial Indifference"/>
              </a:rPr>
              <a:t>Evaluation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DF5A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-614816" y="-584974"/>
            <a:ext cx="8277495" cy="11456947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449314" y="4095115"/>
            <a:ext cx="6859721" cy="2030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060"/>
              </a:lnSpc>
            </a:pPr>
            <a:r>
              <a:rPr lang="en-US" sz="6200">
                <a:solidFill>
                  <a:srgbClr val="DF5A49"/>
                </a:solidFill>
                <a:latin typeface="League Spartan"/>
              </a:rPr>
              <a:t>Before the Meeting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148881" y="3522345"/>
            <a:ext cx="9272169" cy="3175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Glacial Indifference"/>
              </a:rPr>
              <a:t>Ask</a:t>
            </a:r>
            <a:r>
              <a:rPr lang="en-US" sz="1200">
                <a:solidFill>
                  <a:srgbClr val="FFFFFF"/>
                </a:solidFill>
                <a:latin typeface="Arimo"/>
              </a:rPr>
              <a:t> for agenda topics (regular meetings)</a:t>
            </a:r>
          </a:p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Glacial Indifference"/>
              </a:rPr>
              <a:t>O</a:t>
            </a:r>
            <a:r>
              <a:rPr lang="en-US" sz="1200">
                <a:solidFill>
                  <a:srgbClr val="FFFFFF"/>
                </a:solidFill>
                <a:latin typeface="Arimo"/>
              </a:rPr>
              <a:t>rganise an agenda</a:t>
            </a:r>
          </a:p>
          <a:p>
            <a:pPr marL="1554480" indent="-518160" lvl="2">
              <a:lnSpc>
                <a:spcPts val="5040"/>
              </a:lnSpc>
              <a:buFont typeface="Arial"/>
              <a:buChar char="⚬"/>
            </a:pPr>
            <a:r>
              <a:rPr lang="en-US" sz="1200">
                <a:solidFill>
                  <a:srgbClr val="FFFFFF"/>
                </a:solidFill>
                <a:latin typeface="Arimo"/>
              </a:rPr>
              <a:t>Topic</a:t>
            </a:r>
          </a:p>
          <a:p>
            <a:pPr marL="1554480" indent="-518160" lvl="2">
              <a:lnSpc>
                <a:spcPts val="5040"/>
              </a:lnSpc>
              <a:buFont typeface="Arial"/>
              <a:buChar char="⚬"/>
            </a:pPr>
            <a:r>
              <a:rPr lang="en-US" sz="1200">
                <a:solidFill>
                  <a:srgbClr val="FFFFFF"/>
                </a:solidFill>
                <a:latin typeface="Arimo"/>
              </a:rPr>
              <a:t>Time Limit 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Glacial Indifference"/>
              </a:rPr>
              <a:t>S</a:t>
            </a:r>
            <a:r>
              <a:rPr lang="en-US" sz="1200">
                <a:solidFill>
                  <a:srgbClr val="FFFFFF"/>
                </a:solidFill>
                <a:latin typeface="Arimo"/>
              </a:rPr>
              <a:t>end out the agenda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148881" y="9198654"/>
            <a:ext cx="927216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spc="300">
                <a:solidFill>
                  <a:srgbClr val="FAFAFA"/>
                </a:solidFill>
                <a:latin typeface="Glacial Indifference Bold"/>
              </a:rPr>
              <a:t>COMPANY NAME | YEAR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DF5A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-614816" y="-584974"/>
            <a:ext cx="8277495" cy="11456947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474903" y="3866515"/>
            <a:ext cx="6859721" cy="2030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060"/>
              </a:lnSpc>
            </a:pPr>
            <a:r>
              <a:rPr lang="en-US" sz="6200">
                <a:solidFill>
                  <a:srgbClr val="DF5A49"/>
                </a:solidFill>
                <a:latin typeface="League Spartan"/>
              </a:rPr>
              <a:t>During the Meeting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148881" y="2882265"/>
            <a:ext cx="9272169" cy="445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Glacial Indifference"/>
              </a:rPr>
              <a:t>Start and E</a:t>
            </a:r>
            <a:r>
              <a:rPr lang="en-US" sz="1200">
                <a:solidFill>
                  <a:srgbClr val="FFFFFF"/>
                </a:solidFill>
                <a:latin typeface="Arimo"/>
              </a:rPr>
              <a:t>nd on time</a:t>
            </a:r>
          </a:p>
          <a:p>
            <a:pPr marL="1554480" indent="-518160" lvl="2">
              <a:lnSpc>
                <a:spcPts val="5040"/>
              </a:lnSpc>
              <a:buFont typeface="Arial"/>
              <a:buChar char="⚬"/>
            </a:pPr>
            <a:r>
              <a:rPr lang="en-US" sz="1200">
                <a:solidFill>
                  <a:srgbClr val="FFFFFF"/>
                </a:solidFill>
                <a:latin typeface="Arimo"/>
              </a:rPr>
              <a:t>Don’t </a:t>
            </a:r>
            <a:r>
              <a:rPr lang="en-US" sz="3600">
                <a:solidFill>
                  <a:srgbClr val="FFFFFF"/>
                </a:solidFill>
                <a:latin typeface="Glacial Indifference"/>
              </a:rPr>
              <a:t>w</a:t>
            </a:r>
            <a:r>
              <a:rPr lang="en-US" sz="1200">
                <a:solidFill>
                  <a:srgbClr val="FFFFFF"/>
                </a:solidFill>
                <a:latin typeface="Arimo"/>
              </a:rPr>
              <a:t>ait for l</a:t>
            </a:r>
            <a:r>
              <a:rPr lang="en-US" sz="3600">
                <a:solidFill>
                  <a:srgbClr val="FFFFFF"/>
                </a:solidFill>
                <a:latin typeface="Glacial Indifference"/>
              </a:rPr>
              <a:t>at</a:t>
            </a:r>
            <a:r>
              <a:rPr lang="en-US" sz="1200">
                <a:solidFill>
                  <a:srgbClr val="FFFFFF"/>
                </a:solidFill>
                <a:latin typeface="Arimo"/>
              </a:rPr>
              <a:t>e comers</a:t>
            </a:r>
          </a:p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Glacial Indifference"/>
              </a:rPr>
              <a:t>St</a:t>
            </a:r>
            <a:r>
              <a:rPr lang="en-US" sz="1200">
                <a:solidFill>
                  <a:srgbClr val="FFFFFF"/>
                </a:solidFill>
                <a:latin typeface="Arimo"/>
              </a:rPr>
              <a:t>ick to the agenda</a:t>
            </a:r>
          </a:p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Glacial Indifference"/>
              </a:rPr>
              <a:t>Av</a:t>
            </a:r>
            <a:r>
              <a:rPr lang="en-US" sz="1200">
                <a:solidFill>
                  <a:srgbClr val="FFFFFF"/>
                </a:solidFill>
                <a:latin typeface="Arimo"/>
              </a:rPr>
              <a:t>oid conflict</a:t>
            </a:r>
          </a:p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Glacial Indifference"/>
              </a:rPr>
              <a:t>SMART de</a:t>
            </a:r>
            <a:r>
              <a:rPr lang="en-US" sz="1200">
                <a:solidFill>
                  <a:srgbClr val="FFFFFF"/>
                </a:solidFill>
                <a:latin typeface="Arimo"/>
              </a:rPr>
              <a:t>adlines</a:t>
            </a:r>
          </a:p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Glacial Indifference"/>
              </a:rPr>
              <a:t>T</a:t>
            </a:r>
            <a:r>
              <a:rPr lang="en-US" sz="1200">
                <a:solidFill>
                  <a:srgbClr val="FFFFFF"/>
                </a:solidFill>
                <a:latin typeface="Arimo"/>
              </a:rPr>
              <a:t>ake Output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1200">
                <a:solidFill>
                  <a:srgbClr val="FFFFFF"/>
                </a:solidFill>
                <a:latin typeface="Arimo"/>
              </a:rPr>
              <a:t>Be aware of your behaviour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148881" y="9198654"/>
            <a:ext cx="927216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spc="300">
                <a:solidFill>
                  <a:srgbClr val="FAFAFA"/>
                </a:solidFill>
                <a:latin typeface="Glacial Indifference Bold"/>
              </a:rPr>
              <a:t>COMPANY NAME | YEAR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DF5A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-614816" y="-584974"/>
            <a:ext cx="8277495" cy="11456947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423724" y="4095115"/>
            <a:ext cx="6859721" cy="2030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060"/>
              </a:lnSpc>
            </a:pPr>
            <a:r>
              <a:rPr lang="en-US" sz="6200">
                <a:solidFill>
                  <a:srgbClr val="DF5A49"/>
                </a:solidFill>
                <a:latin typeface="League Spartan"/>
              </a:rPr>
              <a:t>After the Meeting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148881" y="2562225"/>
            <a:ext cx="9272169" cy="509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Glacial Indifference"/>
              </a:rPr>
              <a:t>Edit Ou</a:t>
            </a:r>
            <a:r>
              <a:rPr lang="en-US" sz="1200">
                <a:solidFill>
                  <a:srgbClr val="FFFFFF"/>
                </a:solidFill>
                <a:latin typeface="Arimo"/>
              </a:rPr>
              <a:t>tput</a:t>
            </a:r>
          </a:p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1200">
                <a:solidFill>
                  <a:srgbClr val="FFFFFF"/>
                </a:solidFill>
                <a:latin typeface="Arimo"/>
              </a:rPr>
              <a:t>Thank attendees (especially those on time)</a:t>
            </a:r>
          </a:p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Glacial Indifference"/>
              </a:rPr>
              <a:t>S</a:t>
            </a:r>
            <a:r>
              <a:rPr lang="en-US" sz="1200">
                <a:solidFill>
                  <a:srgbClr val="FFFFFF"/>
                </a:solidFill>
                <a:latin typeface="Arimo"/>
              </a:rPr>
              <a:t>end output</a:t>
            </a:r>
          </a:p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1200">
                <a:solidFill>
                  <a:srgbClr val="FFFFFF"/>
                </a:solidFill>
                <a:latin typeface="Arimo"/>
              </a:rPr>
              <a:t>Follow up on Deadlines</a:t>
            </a:r>
          </a:p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FFFFF"/>
                </a:solidFill>
                <a:latin typeface="Glacial Indifference"/>
              </a:rPr>
              <a:t>Get Feedback</a:t>
            </a:r>
          </a:p>
          <a:p>
            <a:pPr marL="1554480" indent="-518160" lvl="2">
              <a:lnSpc>
                <a:spcPts val="5040"/>
              </a:lnSpc>
              <a:buFont typeface="Arial"/>
              <a:buChar char="⚬"/>
            </a:pPr>
            <a:r>
              <a:rPr lang="en-US" sz="3600">
                <a:solidFill>
                  <a:srgbClr val="FFFFFF"/>
                </a:solidFill>
                <a:latin typeface="Glacial Indifference"/>
              </a:rPr>
              <a:t>What did you do well?</a:t>
            </a:r>
          </a:p>
          <a:p>
            <a:pPr marL="1554480" indent="-518160" lvl="2">
              <a:lnSpc>
                <a:spcPts val="5040"/>
              </a:lnSpc>
              <a:buFont typeface="Arial"/>
              <a:buChar char="⚬"/>
            </a:pPr>
            <a:r>
              <a:rPr lang="en-US" sz="3600">
                <a:solidFill>
                  <a:srgbClr val="FFFFFF"/>
                </a:solidFill>
                <a:latin typeface="Glacial Indifference"/>
              </a:rPr>
              <a:t>What do you need to improve on?</a:t>
            </a:r>
          </a:p>
          <a:p>
            <a:pPr algn="l" marL="1554480" indent="-518160" lvl="2">
              <a:lnSpc>
                <a:spcPts val="5040"/>
              </a:lnSpc>
              <a:buFont typeface="Arial"/>
              <a:buChar char="⚬"/>
            </a:pPr>
            <a:r>
              <a:rPr lang="en-US" sz="3600">
                <a:solidFill>
                  <a:srgbClr val="FFFFFF"/>
                </a:solidFill>
                <a:latin typeface="Glacial Indifference"/>
              </a:rPr>
              <a:t>Time check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148881" y="9198654"/>
            <a:ext cx="927216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spc="300">
                <a:solidFill>
                  <a:srgbClr val="FAFAFA"/>
                </a:solidFill>
                <a:latin typeface="Glacial Indifference Bold"/>
              </a:rPr>
              <a:t>COMPANY NAME | YEAR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DF5A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4454" y="869216"/>
            <a:ext cx="6448241" cy="4334232"/>
            <a:chOff x="0" y="0"/>
            <a:chExt cx="8597654" cy="5778977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3503137"/>
              <a:ext cx="8597654" cy="22758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60"/>
                </a:lnSpc>
              </a:pPr>
              <a:r>
                <a:rPr lang="en-US" sz="2800" spc="280">
                  <a:solidFill>
                    <a:srgbClr val="FAFAFA"/>
                  </a:solidFill>
                  <a:latin typeface="Glacial Indifference Bold"/>
                </a:rPr>
                <a:t>An </a:t>
              </a:r>
              <a:r>
                <a:rPr lang="en-US" sz="2800" spc="280">
                  <a:solidFill>
                    <a:srgbClr val="FAFAFA"/>
                  </a:solidFill>
                  <a:latin typeface="Glacial Indifference Bold"/>
                </a:rPr>
                <a:t>individual ne</a:t>
              </a:r>
              <a:r>
                <a:rPr lang="en-US" sz="2800" spc="280">
                  <a:solidFill>
                    <a:srgbClr val="FAFAFA"/>
                  </a:solidFill>
                  <a:latin typeface="Glacial Indifference Bold"/>
                </a:rPr>
                <a:t>eds to follow a set of rules and regulations while interacting with the other person over the phone.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66675"/>
              <a:ext cx="8597654" cy="28014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450"/>
                </a:lnSpc>
              </a:pPr>
              <a:r>
                <a:rPr lang="en-US" sz="6450">
                  <a:solidFill>
                    <a:srgbClr val="FFFFFF"/>
                  </a:solidFill>
                  <a:latin typeface="League Spartan"/>
                </a:rPr>
                <a:t>Telephone Et</a:t>
              </a:r>
              <a:r>
                <a:rPr lang="en-US" sz="6450">
                  <a:solidFill>
                    <a:srgbClr val="FFFFFF"/>
                  </a:solidFill>
                  <a:latin typeface="League Spartan"/>
                </a:rPr>
                <a:t>ique</a:t>
              </a:r>
              <a:r>
                <a:rPr lang="en-US" sz="6500">
                  <a:solidFill>
                    <a:srgbClr val="FFFFFF"/>
                  </a:solidFill>
                  <a:latin typeface="League Spartan"/>
                </a:rPr>
                <a:t>ttes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151377" y="797779"/>
            <a:ext cx="9272169" cy="7656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5040"/>
              </a:lnSpc>
            </a:pPr>
            <a:r>
              <a:rPr lang="en-US" sz="3600">
                <a:solidFill>
                  <a:srgbClr val="FAFAFA"/>
                </a:solidFill>
                <a:latin typeface="Glacial Indifference Bold"/>
              </a:rPr>
              <a:t>Rules and Manner</a:t>
            </a:r>
          </a:p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AFAFA"/>
                </a:solidFill>
                <a:latin typeface="Glacial Indifference"/>
              </a:rPr>
              <a:t>Always remember your voice has to be very pleasant while interacting with the other person over the phone.</a:t>
            </a:r>
          </a:p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AFAFA"/>
                </a:solidFill>
                <a:latin typeface="Glacial Indifference"/>
              </a:rPr>
              <a:t>Never call any person at odd hours.</a:t>
            </a:r>
          </a:p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AFAFA"/>
                </a:solidFill>
                <a:latin typeface="Glacial Indifference"/>
              </a:rPr>
              <a:t>In any official call, don’t use words like” Any guess who I am?</a:t>
            </a:r>
          </a:p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AFAFA"/>
                </a:solidFill>
                <a:latin typeface="Glacial Indifference"/>
              </a:rPr>
              <a:t>Make sure your content is crisp and relevant.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AFAFA"/>
                </a:solidFill>
                <a:latin typeface="Glacial Indifference"/>
              </a:rPr>
              <a:t>After dialing, always reconfirm whether the person on the other side is the person you wish to speak to.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148881" y="9198654"/>
            <a:ext cx="927216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spc="300">
                <a:solidFill>
                  <a:srgbClr val="FAFAFA"/>
                </a:solidFill>
                <a:latin typeface="Glacial Indifference Bold"/>
              </a:rPr>
              <a:t>COMPANY NAME | YEAR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DF5A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4454" y="869216"/>
            <a:ext cx="6448241" cy="4334232"/>
            <a:chOff x="0" y="0"/>
            <a:chExt cx="8597654" cy="5778977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3503137"/>
              <a:ext cx="8597654" cy="22758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60"/>
                </a:lnSpc>
              </a:pPr>
              <a:r>
                <a:rPr lang="en-US" sz="2800" spc="280">
                  <a:solidFill>
                    <a:srgbClr val="FAFAFA"/>
                  </a:solidFill>
                  <a:latin typeface="Glacial Indifference Bold"/>
                </a:rPr>
                <a:t>An </a:t>
              </a:r>
              <a:r>
                <a:rPr lang="en-US" sz="2800" spc="280">
                  <a:solidFill>
                    <a:srgbClr val="FAFAFA"/>
                  </a:solidFill>
                  <a:latin typeface="Glacial Indifference Bold"/>
                </a:rPr>
                <a:t>individual ne</a:t>
              </a:r>
              <a:r>
                <a:rPr lang="en-US" sz="2800" spc="280">
                  <a:solidFill>
                    <a:srgbClr val="FAFAFA"/>
                  </a:solidFill>
                  <a:latin typeface="Glacial Indifference Bold"/>
                </a:rPr>
                <a:t>eds to follow a set of rules and regulations while interacting with the other person over the phone.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66675"/>
              <a:ext cx="8597654" cy="28014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450"/>
                </a:lnSpc>
              </a:pPr>
              <a:r>
                <a:rPr lang="en-US" sz="6450">
                  <a:solidFill>
                    <a:srgbClr val="FFFFFF"/>
                  </a:solidFill>
                  <a:latin typeface="League Spartan"/>
                </a:rPr>
                <a:t>Telephone Et</a:t>
              </a:r>
              <a:r>
                <a:rPr lang="en-US" sz="6450">
                  <a:solidFill>
                    <a:srgbClr val="FFFFFF"/>
                  </a:solidFill>
                  <a:latin typeface="League Spartan"/>
                </a:rPr>
                <a:t>ique</a:t>
              </a:r>
              <a:r>
                <a:rPr lang="en-US" sz="6500">
                  <a:solidFill>
                    <a:srgbClr val="FFFFFF"/>
                  </a:solidFill>
                  <a:latin typeface="League Spartan"/>
                </a:rPr>
                <a:t>ttes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151377" y="797779"/>
            <a:ext cx="9272169" cy="6376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5040"/>
              </a:lnSpc>
            </a:pPr>
            <a:r>
              <a:rPr lang="en-US" sz="3600">
                <a:solidFill>
                  <a:srgbClr val="FAFAFA"/>
                </a:solidFill>
                <a:latin typeface="Glacial Indifference Bold"/>
              </a:rPr>
              <a:t>Rules and Manner(contd.)</a:t>
            </a:r>
          </a:p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AFAFA"/>
                </a:solidFill>
                <a:latin typeface="Glacial Indifference"/>
              </a:rPr>
              <a:t>Always carefully dial the numbers, never be in a rush.</a:t>
            </a:r>
          </a:p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AFAFA"/>
                </a:solidFill>
                <a:latin typeface="Glacial Indifference"/>
              </a:rPr>
              <a:t>Never put the second party on a very long holds.</a:t>
            </a:r>
          </a:p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AFAFA"/>
                </a:solidFill>
                <a:latin typeface="Glacial Indifference"/>
              </a:rPr>
              <a:t>Whil</a:t>
            </a:r>
            <a:r>
              <a:rPr lang="en-US" sz="3600">
                <a:solidFill>
                  <a:srgbClr val="FAFAFA"/>
                </a:solidFill>
                <a:latin typeface="Glacial Indifference"/>
              </a:rPr>
              <a:t>e interacting over the phone, don’t chew anything or eat your food. </a:t>
            </a:r>
          </a:p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AFAFA"/>
                </a:solidFill>
                <a:latin typeface="Glacial Indifference"/>
              </a:rPr>
              <a:t>After completing the conversation, don’t just hang up.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AFAFA"/>
                </a:solidFill>
                <a:latin typeface="Glacial Indifference"/>
              </a:rPr>
              <a:t>Always speak each and every word clearly.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148881" y="9198654"/>
            <a:ext cx="927216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spc="300">
                <a:solidFill>
                  <a:srgbClr val="FAFAFA"/>
                </a:solidFill>
                <a:latin typeface="Glacial Indifference Bold"/>
              </a:rPr>
              <a:t>COMPANY NAME | YEAR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DF5A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4454" y="869216"/>
            <a:ext cx="6448241" cy="4334232"/>
            <a:chOff x="0" y="0"/>
            <a:chExt cx="8597654" cy="5778977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3503137"/>
              <a:ext cx="8597654" cy="22758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60"/>
                </a:lnSpc>
              </a:pPr>
              <a:r>
                <a:rPr lang="en-US" sz="2800" spc="280">
                  <a:solidFill>
                    <a:srgbClr val="FAFAFA"/>
                  </a:solidFill>
                  <a:latin typeface="Glacial Indifference Bold"/>
                </a:rPr>
                <a:t>An </a:t>
              </a:r>
              <a:r>
                <a:rPr lang="en-US" sz="2800" spc="280">
                  <a:solidFill>
                    <a:srgbClr val="FAFAFA"/>
                  </a:solidFill>
                  <a:latin typeface="Glacial Indifference Bold"/>
                </a:rPr>
                <a:t>individual ne</a:t>
              </a:r>
              <a:r>
                <a:rPr lang="en-US" sz="2800" spc="280">
                  <a:solidFill>
                    <a:srgbClr val="FAFAFA"/>
                  </a:solidFill>
                  <a:latin typeface="Glacial Indifference Bold"/>
                </a:rPr>
                <a:t>eds to follow a set of rules and regulations while interacting with the other person over the phone.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66675"/>
              <a:ext cx="8597654" cy="28014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450"/>
                </a:lnSpc>
              </a:pPr>
              <a:r>
                <a:rPr lang="en-US" sz="6450">
                  <a:solidFill>
                    <a:srgbClr val="FFFFFF"/>
                  </a:solidFill>
                  <a:latin typeface="League Spartan"/>
                </a:rPr>
                <a:t>Telephone Et</a:t>
              </a:r>
              <a:r>
                <a:rPr lang="en-US" sz="6450">
                  <a:solidFill>
                    <a:srgbClr val="FFFFFF"/>
                  </a:solidFill>
                  <a:latin typeface="League Spartan"/>
                </a:rPr>
                <a:t>ique</a:t>
              </a:r>
              <a:r>
                <a:rPr lang="en-US" sz="6500">
                  <a:solidFill>
                    <a:srgbClr val="FFFFFF"/>
                  </a:solidFill>
                  <a:latin typeface="League Spartan"/>
                </a:rPr>
                <a:t>ttes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151377" y="797779"/>
            <a:ext cx="9272169" cy="829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5040"/>
              </a:lnSpc>
            </a:pPr>
            <a:r>
              <a:rPr lang="en-US" sz="3600">
                <a:solidFill>
                  <a:srgbClr val="FAFAFA"/>
                </a:solidFill>
                <a:latin typeface="Glacial Indifference Bold"/>
              </a:rPr>
              <a:t>Rules and Manner(contd.)</a:t>
            </a:r>
          </a:p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AFAFA"/>
                </a:solidFill>
                <a:latin typeface="Glacial Indifference"/>
              </a:rPr>
              <a:t>Don’t take too long to pick up any call.</a:t>
            </a:r>
          </a:p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AFAFA"/>
                </a:solidFill>
                <a:latin typeface="Glacial Indifference"/>
              </a:rPr>
              <a:t>In professional talks, never keep the conversation too long as the other person might be busy.</a:t>
            </a:r>
          </a:p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AFAFA"/>
                </a:solidFill>
                <a:latin typeface="Glacial Indifference"/>
              </a:rPr>
              <a:t>If you are not the correct person and the speaker needs to speak to your fellow worker always say “one moment please- I</a:t>
            </a:r>
            <a:r>
              <a:rPr lang="en-US" sz="3600">
                <a:solidFill>
                  <a:srgbClr val="FAFAFA"/>
                </a:solidFill>
                <a:latin typeface="Glacial Indifference"/>
              </a:rPr>
              <a:t>will call him</a:t>
            </a:r>
            <a:r>
              <a:rPr lang="en-US" sz="3600">
                <a:solidFill>
                  <a:srgbClr val="FAFAFA"/>
                </a:solidFill>
                <a:latin typeface="Glacial Indifference"/>
              </a:rPr>
              <a:t> in a minute”.</a:t>
            </a:r>
          </a:p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AFAFA"/>
                </a:solidFill>
                <a:latin typeface="Glacial Indifference"/>
              </a:rPr>
              <a:t>Decrease the volume of the television or turn off the speakers.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AFAFA"/>
                </a:solidFill>
                <a:latin typeface="Glacial Indifference"/>
              </a:rPr>
              <a:t>I</a:t>
            </a:r>
            <a:r>
              <a:rPr lang="en-US" sz="3600">
                <a:solidFill>
                  <a:srgbClr val="FAFAFA"/>
                </a:solidFill>
                <a:latin typeface="Glacial Indifference"/>
              </a:rPr>
              <a:t>f there is any disturbance in the network, don’t just keep speaking for the sake of it;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148881" y="9198654"/>
            <a:ext cx="927216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spc="300">
                <a:solidFill>
                  <a:srgbClr val="FAFAFA"/>
                </a:solidFill>
                <a:latin typeface="Glacial Indifference Bold"/>
              </a:rPr>
              <a:t>COMPANY NAME | YEAR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DF5A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02159" y="1704126"/>
            <a:ext cx="7890326" cy="3175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5040"/>
              </a:lnSpc>
            </a:pPr>
            <a:r>
              <a:rPr lang="en-US" sz="3600">
                <a:solidFill>
                  <a:srgbClr val="FAFAFA"/>
                </a:solidFill>
                <a:latin typeface="Glacial Indifference Bold"/>
              </a:rPr>
              <a:t>Voice Tone</a:t>
            </a:r>
          </a:p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AFAFA"/>
                </a:solidFill>
                <a:latin typeface="Glacial Indifference"/>
              </a:rPr>
              <a:t>It pertains to Pitch, Volume, Pace and Emphasis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AFAFA"/>
                </a:solidFill>
                <a:latin typeface="Glacial Indifference"/>
              </a:rPr>
              <a:t>People quickly respond to voice tone either positively or negatively.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148881" y="9198654"/>
            <a:ext cx="9272169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spc="300">
                <a:solidFill>
                  <a:srgbClr val="FAFAFA"/>
                </a:solidFill>
                <a:latin typeface="Glacial Indifference Bold"/>
              </a:rPr>
              <a:t>COMPANY NAME | YEAR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695516" y="1704126"/>
            <a:ext cx="7890326" cy="3815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5040"/>
              </a:lnSpc>
            </a:pPr>
            <a:r>
              <a:rPr lang="en-US" sz="3600">
                <a:solidFill>
                  <a:srgbClr val="FAFAFA"/>
                </a:solidFill>
                <a:latin typeface="Glacial Indifference Bold"/>
              </a:rPr>
              <a:t>Good voice tone</a:t>
            </a:r>
          </a:p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AFAFA"/>
                </a:solidFill>
                <a:latin typeface="Glacial Indifference"/>
              </a:rPr>
              <a:t>Speaker wi</a:t>
            </a:r>
            <a:r>
              <a:rPr lang="en-US" sz="3600">
                <a:solidFill>
                  <a:srgbClr val="FAFAFA"/>
                </a:solidFill>
                <a:latin typeface="Glacial Indifference"/>
              </a:rPr>
              <a:t>th a deeper tone</a:t>
            </a:r>
          </a:p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AFAFA"/>
                </a:solidFill>
                <a:latin typeface="Glacial Indifference"/>
              </a:rPr>
              <a:t>Variability of tones</a:t>
            </a:r>
          </a:p>
          <a:p>
            <a:pPr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AFAFA"/>
                </a:solidFill>
                <a:latin typeface="Glacial Indifference"/>
              </a:rPr>
              <a:t>Speak slower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sz="3600">
                <a:solidFill>
                  <a:srgbClr val="FAFAFA"/>
                </a:solidFill>
                <a:latin typeface="Glacial Indifference"/>
              </a:rPr>
              <a:t>Give </a:t>
            </a:r>
            <a:r>
              <a:rPr lang="en-US" sz="3600">
                <a:solidFill>
                  <a:srgbClr val="FAFAFA"/>
                </a:solidFill>
                <a:latin typeface="Glacial Indifference"/>
              </a:rPr>
              <a:t>enough time for your voice to sink in.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DF5A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59529" y="4286250"/>
            <a:ext cx="6768941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>
                <a:solidFill>
                  <a:srgbClr val="FFFFFF"/>
                </a:solidFill>
                <a:latin typeface="League Spartan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DAECsltO-0g</dc:identifier>
  <dcterms:modified xsi:type="dcterms:W3CDTF">2011-08-01T06:04:30Z</dcterms:modified>
  <cp:revision>1</cp:revision>
  <dc:title>Business Coms - III</dc:title>
</cp:coreProperties>
</file>